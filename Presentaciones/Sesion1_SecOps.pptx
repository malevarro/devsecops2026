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desplazar la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diapositiva</a:t>
            </a:r>
            <a:endParaRPr lang="es-CO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</a:t>
            </a: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el </a:t>
            </a: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de </a:t>
            </a: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 notas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9BE1248-EEE0-4FF1-9170-D625494A59CC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132E66-668F-46C5-B04A-0F0FBBED2B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BD6C8B-3F63-4182-801D-B0B898A132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39D53D-EC55-4AC3-B1EB-10F250731E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C71BB9-32F3-4D53-ADCE-03188D9344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7C822A-7CC5-4915-8D52-012FE6372D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C62253-71A6-4BE0-AFE2-306800A7DD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8FF113-758C-4315-8D33-A84458601D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DF1C81-10F2-40C3-B3EB-BF5DE6D036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FA0D15-7490-437F-9A72-8A2610E474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C67BE4-7FA6-4A11-8BB9-61932E05B5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A881CF-1A5E-4135-B732-F8D1807E61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55F0FD-69AA-45E8-962F-077CCB46EA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A02B71-4589-4C8B-8C76-3D9EAABB11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016151-71C5-4A61-B416-5132CE3AAD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FCC01A-6757-44FD-BE3B-4C1CAABA96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A2B2A-79B4-44C2-8052-7F79A75C5B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804D2C-BC7C-409F-9D3D-5627007B7B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01A50F-59CF-4879-BF06-1BBDA313E1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9257F3-DFAB-4020-8E15-A901DE4B60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640D43-6C2F-4E09-BE8B-7442B34985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E24A37-B2CD-479C-8AEA-07ECBB3E46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AED44C-C9FC-438D-840B-B179A14082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8FDFA8-B000-4DD2-9F3E-F8A11006A6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BE202F-D0FE-4A53-BBD5-72FCBC088D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6EEB45-3D2D-428B-852E-B776A66FF5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77DC56-2974-42F6-8134-46332559B5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5C0A96-09AE-4BA3-A1BC-E67F53851E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A054B5-D2E1-4A5B-A0BB-993757362E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1B466B-C1B2-4C0F-A9C0-3975113326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265A75-6983-4BF1-8CBD-C4B8C20F08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CE3D33-11CE-4639-9D74-5D764DABE6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2E6795-DB8E-47F2-99C2-D9C66F5F0A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4D2A85-711F-4DAA-AE5C-6F751D03B8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6054C4-C880-4702-A522-DA1E7F3FDA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5C4D22-D2D6-4FF4-B890-7D0B774105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6209C8-E407-4DFB-A6BE-6C7B23D48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6C7BB0-A3BE-464B-BA27-EED3D0F632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927610-5479-4E59-9D1E-09F1832CB3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9944C6-3C44-4D74-89D9-04EA5AE30F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editar el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formato del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texto de </a:t>
            </a:r>
            <a:r>
              <a:rPr lang="es-CO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título</a:t>
            </a:r>
            <a:endParaRPr lang="es-CO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CO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CO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CO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CO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CO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7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3.png"/><Relationship Id="rId3" Type="http://schemas.openxmlformats.org/officeDocument/2006/relationships/image" Target="../media/image32.png"/><Relationship Id="rId4" Type="http://schemas.openxmlformats.org/officeDocument/2006/relationships/image" Target="../media/image34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6126480" y="-1920240"/>
            <a:ext cx="5486040" cy="548604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1645920" y="3108960"/>
            <a:ext cx="4388760" cy="438876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02920" y="105156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CURSO </a:t>
            </a: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SECOPS · </a:t>
            </a: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SESIÓN 1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1417320"/>
            <a:ext cx="81378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Fund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amen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tos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Segur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idad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 la </a:t>
            </a: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Nube</a:t>
            </a:r>
            <a:endParaRPr lang="es-CO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502920" y="288036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Responsabilidad compartida · Gestión de riesgos · Threat Modeling · Zero Trust</a:t>
            </a:r>
            <a:endParaRPr lang="es-CO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02920" y="33102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Duración: 4 horas 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502920" y="4069080"/>
            <a:ext cx="2926080" cy="360"/>
          </a:xfrm>
          <a:prstGeom prst="line">
            <a:avLst/>
          </a:prstGeom>
          <a:ln w="19050">
            <a:solidFill>
              <a:srgbClr val="2EC4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502920" y="4206240"/>
            <a:ext cx="5486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Manuel Alejandro Vargas Rojas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manuelvargasrojas@cedoc.edu.co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SESIÓN 1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Agenda y distribución de tiempos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502920" y="1207080"/>
          <a:ext cx="8137800" cy="336924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</a:tblGrid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Bloque</a:t>
                      </a:r>
                      <a:endParaRPr lang="es-CO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Tema</a:t>
                      </a:r>
                      <a:endParaRPr lang="es-CO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Apertura y objetivos de la sesión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Modelo de responsabilidad compartida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Gestión de riesgos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Threat Modeling: fundamentos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Ejemplo — Metodología STRIDE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Ejemplo — Metodología OWASP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Descanso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Zero Trust en profundidad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6FC"/>
                    </a:solidFill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Puente al laboratorio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Lab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Identidades, roles, Azure Policy y postura de seguridad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APERTURA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Objetivos de aprendizaje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2"/>
          <p:cNvSpPr/>
          <p:nvPr/>
        </p:nvSpPr>
        <p:spPr>
          <a:xfrm>
            <a:off x="502920" y="138060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502920" y="13806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4"/>
          <p:cNvSpPr/>
          <p:nvPr/>
        </p:nvSpPr>
        <p:spPr>
          <a:xfrm>
            <a:off x="1188720" y="129852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Delimitar responsabilidades de seguridad entre proveedor y cliente según el modelo de servicio (IaaS / PaaS / SaaS).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5"/>
          <p:cNvSpPr/>
          <p:nvPr/>
        </p:nvSpPr>
        <p:spPr>
          <a:xfrm>
            <a:off x="502920" y="211212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"/>
          <p:cNvSpPr/>
          <p:nvPr/>
        </p:nvSpPr>
        <p:spPr>
          <a:xfrm>
            <a:off x="502920" y="21121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7"/>
          <p:cNvSpPr/>
          <p:nvPr/>
        </p:nvSpPr>
        <p:spPr>
          <a:xfrm>
            <a:off x="1188720" y="203004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Aplicar un proceso básico de gestión de riesgos a un escenario de nube.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502920" y="284364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9"/>
          <p:cNvSpPr/>
          <p:nvPr/>
        </p:nvSpPr>
        <p:spPr>
          <a:xfrm>
            <a:off x="502920" y="28436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1188720" y="276156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Ejecutar un ejercicio de threat modeling usando STRIDE y el enfoque OWASP.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502920" y="357516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2"/>
          <p:cNvSpPr/>
          <p:nvPr/>
        </p:nvSpPr>
        <p:spPr>
          <a:xfrm>
            <a:off x="502920" y="357516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3"/>
          <p:cNvSpPr/>
          <p:nvPr/>
        </p:nvSpPr>
        <p:spPr>
          <a:xfrm>
            <a:off x="1188720" y="349308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Explicar los principios y pilares de Zero Trust y su materialización en Azure.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4"/>
          <p:cNvSpPr/>
          <p:nvPr/>
        </p:nvSpPr>
        <p:spPr>
          <a:xfrm>
            <a:off x="502920" y="430668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5"/>
          <p:cNvSpPr/>
          <p:nvPr/>
        </p:nvSpPr>
        <p:spPr>
          <a:xfrm>
            <a:off x="502920" y="43066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1188720" y="422460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Reconocer los componentes del laboratorio: identidades, roles, managed identities, Azure Policy y postura de seguridad.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APERTURA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¿Por qué empezar aquí? El hilo conductor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"/>
          <p:cNvSpPr/>
          <p:nvPr/>
        </p:nvSpPr>
        <p:spPr>
          <a:xfrm>
            <a:off x="502920" y="1554480"/>
            <a:ext cx="1846800" cy="2011320"/>
          </a:xfrm>
          <a:prstGeom prst="roundRect">
            <a:avLst>
              <a:gd name="adj" fmla="val 4455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1143000" y="1810440"/>
            <a:ext cx="566640" cy="5666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" name="Image 0" descr="preencoded.png"/>
          <p:cNvPicPr/>
          <p:nvPr/>
        </p:nvPicPr>
        <p:blipFill>
          <a:blip r:embed="rId1"/>
          <a:stretch/>
        </p:blipFill>
        <p:spPr>
          <a:xfrm>
            <a:off x="1280160" y="194760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Text 4"/>
          <p:cNvSpPr/>
          <p:nvPr/>
        </p:nvSpPr>
        <p:spPr>
          <a:xfrm>
            <a:off x="502920" y="2468880"/>
            <a:ext cx="1846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201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576000" y="2706480"/>
            <a:ext cx="170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576000" y="3182040"/>
            <a:ext cx="170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Qué me toca proteger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Image 1" descr="preencoded.png"/>
          <p:cNvPicPr/>
          <p:nvPr/>
        </p:nvPicPr>
        <p:blipFill>
          <a:blip r:embed="rId2"/>
          <a:stretch/>
        </p:blipFill>
        <p:spPr>
          <a:xfrm>
            <a:off x="2391120" y="246888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Shape 7"/>
          <p:cNvSpPr/>
          <p:nvPr/>
        </p:nvSpPr>
        <p:spPr>
          <a:xfrm>
            <a:off x="2606040" y="1554480"/>
            <a:ext cx="1846800" cy="2011320"/>
          </a:xfrm>
          <a:prstGeom prst="roundRect">
            <a:avLst>
              <a:gd name="adj" fmla="val 4455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8"/>
          <p:cNvSpPr/>
          <p:nvPr/>
        </p:nvSpPr>
        <p:spPr>
          <a:xfrm>
            <a:off x="3246120" y="1810440"/>
            <a:ext cx="566640" cy="5666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" name="Image 2" descr="preencoded.png"/>
          <p:cNvPicPr/>
          <p:nvPr/>
        </p:nvPicPr>
        <p:blipFill>
          <a:blip r:embed="rId3"/>
          <a:stretch/>
        </p:blipFill>
        <p:spPr>
          <a:xfrm>
            <a:off x="3383280" y="194760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 9"/>
          <p:cNvSpPr/>
          <p:nvPr/>
        </p:nvSpPr>
        <p:spPr>
          <a:xfrm>
            <a:off x="2606040" y="2468880"/>
            <a:ext cx="1846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201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AMENAZA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0"/>
          <p:cNvSpPr/>
          <p:nvPr/>
        </p:nvSpPr>
        <p:spPr>
          <a:xfrm>
            <a:off x="2679120" y="2706480"/>
            <a:ext cx="170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Riesgos y Threat Modeling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2679120" y="3182040"/>
            <a:ext cx="170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Qué puede salir mal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Image 3" descr="preencoded.png"/>
          <p:cNvPicPr/>
          <p:nvPr/>
        </p:nvPicPr>
        <p:blipFill>
          <a:blip r:embed="rId4"/>
          <a:stretch/>
        </p:blipFill>
        <p:spPr>
          <a:xfrm>
            <a:off x="4494240" y="246888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Shape 12"/>
          <p:cNvSpPr/>
          <p:nvPr/>
        </p:nvSpPr>
        <p:spPr>
          <a:xfrm>
            <a:off x="4709160" y="1554480"/>
            <a:ext cx="1846800" cy="2011320"/>
          </a:xfrm>
          <a:prstGeom prst="roundRect">
            <a:avLst>
              <a:gd name="adj" fmla="val 4455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3"/>
          <p:cNvSpPr/>
          <p:nvPr/>
        </p:nvSpPr>
        <p:spPr>
          <a:xfrm>
            <a:off x="5349240" y="1810440"/>
            <a:ext cx="566640" cy="5666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4" descr="preencoded.png"/>
          <p:cNvPicPr/>
          <p:nvPr/>
        </p:nvPicPr>
        <p:blipFill>
          <a:blip r:embed="rId5"/>
          <a:stretch/>
        </p:blipFill>
        <p:spPr>
          <a:xfrm>
            <a:off x="5486400" y="194760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4"/>
          <p:cNvSpPr/>
          <p:nvPr/>
        </p:nvSpPr>
        <p:spPr>
          <a:xfrm>
            <a:off x="4709160" y="2468880"/>
            <a:ext cx="1846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201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ESTRATEGIA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5"/>
          <p:cNvSpPr/>
          <p:nvPr/>
        </p:nvSpPr>
        <p:spPr>
          <a:xfrm>
            <a:off x="4782240" y="2706480"/>
            <a:ext cx="170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6"/>
          <p:cNvSpPr/>
          <p:nvPr/>
        </p:nvSpPr>
        <p:spPr>
          <a:xfrm>
            <a:off x="4782240" y="3182040"/>
            <a:ext cx="170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Cómo diseño la defensa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5" descr="preencoded.png"/>
          <p:cNvPicPr/>
          <p:nvPr/>
        </p:nvPicPr>
        <p:blipFill>
          <a:blip r:embed="rId6"/>
          <a:stretch/>
        </p:blipFill>
        <p:spPr>
          <a:xfrm>
            <a:off x="6597360" y="246888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Shape 17"/>
          <p:cNvSpPr/>
          <p:nvPr/>
        </p:nvSpPr>
        <p:spPr>
          <a:xfrm>
            <a:off x="6812280" y="1554480"/>
            <a:ext cx="1846800" cy="2011320"/>
          </a:xfrm>
          <a:prstGeom prst="roundRect">
            <a:avLst>
              <a:gd name="adj" fmla="val 4455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8"/>
          <p:cNvSpPr/>
          <p:nvPr/>
        </p:nvSpPr>
        <p:spPr>
          <a:xfrm>
            <a:off x="7452360" y="1810440"/>
            <a:ext cx="566640" cy="566640"/>
          </a:xfrm>
          <a:prstGeom prst="ellipse">
            <a:avLst/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6" descr="preencoded.png"/>
          <p:cNvPicPr/>
          <p:nvPr/>
        </p:nvPicPr>
        <p:blipFill>
          <a:blip r:embed="rId7"/>
          <a:stretch/>
        </p:blipFill>
        <p:spPr>
          <a:xfrm>
            <a:off x="7589520" y="194760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19"/>
          <p:cNvSpPr/>
          <p:nvPr/>
        </p:nvSpPr>
        <p:spPr>
          <a:xfrm>
            <a:off x="6812280" y="2468880"/>
            <a:ext cx="18468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201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PRÁCTICA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0"/>
          <p:cNvSpPr/>
          <p:nvPr/>
        </p:nvSpPr>
        <p:spPr>
          <a:xfrm>
            <a:off x="6885360" y="2706480"/>
            <a:ext cx="1700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Laboratorio en Azure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1"/>
          <p:cNvSpPr/>
          <p:nvPr/>
        </p:nvSpPr>
        <p:spPr>
          <a:xfrm>
            <a:off x="6885360" y="3182040"/>
            <a:ext cx="170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Cómo lo implemento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2"/>
          <p:cNvSpPr/>
          <p:nvPr/>
        </p:nvSpPr>
        <p:spPr>
          <a:xfrm>
            <a:off x="502920" y="3977640"/>
            <a:ext cx="813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La seguridad en la nube no es un producto: </a:t>
            </a:r>
            <a:r>
              <a:rPr lang="en-US" sz="15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es una cadena de decisiones.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2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Modelo de Responsabilidad Compartida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problema que resuelve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"/>
          <p:cNvSpPr/>
          <p:nvPr/>
        </p:nvSpPr>
        <p:spPr>
          <a:xfrm>
            <a:off x="502920" y="1298520"/>
            <a:ext cx="4845960" cy="1170000"/>
          </a:xfrm>
          <a:prstGeom prst="roundRect">
            <a:avLst>
              <a:gd name="adj" fmla="val 7031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685800" y="1298520"/>
            <a:ext cx="448020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Pregunta:  </a:t>
            </a: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 una VM en Azure es comprometida por un parche faltante del SO, ¿de quién es la culpa?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502920" y="2697480"/>
            <a:ext cx="48459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En on-premises el cliente responde por toda la pila: instalaciones, red, hosts, hipervisor, SO, aplicaciones y datos.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Al migrar a la nube, el proveedor asume progresivamente capas de esa pila…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761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…pero NUNCA todas: siempre queda una porción del cliente.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5806440" y="129852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5806440" y="129852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Datos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7"/>
          <p:cNvSpPr/>
          <p:nvPr/>
        </p:nvSpPr>
        <p:spPr>
          <a:xfrm>
            <a:off x="5806440" y="173736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5806440" y="173736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Identidades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9"/>
          <p:cNvSpPr/>
          <p:nvPr/>
        </p:nvSpPr>
        <p:spPr>
          <a:xfrm>
            <a:off x="5806440" y="217620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DCE6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0"/>
          <p:cNvSpPr/>
          <p:nvPr/>
        </p:nvSpPr>
        <p:spPr>
          <a:xfrm>
            <a:off x="5806440" y="217620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Aplicación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1"/>
          <p:cNvSpPr/>
          <p:nvPr/>
        </p:nvSpPr>
        <p:spPr>
          <a:xfrm>
            <a:off x="5806440" y="261504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DCE6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2"/>
          <p:cNvSpPr/>
          <p:nvPr/>
        </p:nvSpPr>
        <p:spPr>
          <a:xfrm>
            <a:off x="5806440" y="261504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Red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3"/>
          <p:cNvSpPr/>
          <p:nvPr/>
        </p:nvSpPr>
        <p:spPr>
          <a:xfrm>
            <a:off x="5806440" y="305424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DCE6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5806440" y="305424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Sistema operativo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5"/>
          <p:cNvSpPr/>
          <p:nvPr/>
        </p:nvSpPr>
        <p:spPr>
          <a:xfrm>
            <a:off x="5806440" y="349308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DCE6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6"/>
          <p:cNvSpPr/>
          <p:nvPr/>
        </p:nvSpPr>
        <p:spPr>
          <a:xfrm>
            <a:off x="5806440" y="349308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Hipervisor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7"/>
          <p:cNvSpPr/>
          <p:nvPr/>
        </p:nvSpPr>
        <p:spPr>
          <a:xfrm>
            <a:off x="5806440" y="3931920"/>
            <a:ext cx="2742840" cy="383760"/>
          </a:xfrm>
          <a:prstGeom prst="roundRect">
            <a:avLst>
              <a:gd name="adj" fmla="val 14286"/>
            </a:avLst>
          </a:prstGeom>
          <a:solidFill>
            <a:srgbClr val="DCE6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8"/>
          <p:cNvSpPr/>
          <p:nvPr/>
        </p:nvSpPr>
        <p:spPr>
          <a:xfrm>
            <a:off x="5806440" y="3931920"/>
            <a:ext cx="2742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Hardware físico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9"/>
          <p:cNvSpPr/>
          <p:nvPr/>
        </p:nvSpPr>
        <p:spPr>
          <a:xfrm>
            <a:off x="5532120" y="4416480"/>
            <a:ext cx="3291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On-premises: todo es responsabilidad tuya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La matriz IaaS / PaaS / SaaS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0"/>
          <p:cNvGraphicFramePr/>
          <p:nvPr/>
        </p:nvGraphicFramePr>
        <p:xfrm>
          <a:off x="502920" y="1234440"/>
          <a:ext cx="8137800" cy="248688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  <a:gridCol w="1371600"/>
                <a:gridCol w="1371600"/>
              </a:tblGrid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Capa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On-prem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IaaS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PaaS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SaaS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Datos e información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Cuentas e identidades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Dispositivos (endpoints)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Aplicación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8A6116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Compartida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FBEED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Controles de red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8A6116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Compartida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FBEED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Sistema operativo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</a:tr>
              <a:tr h="3106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Hosts / red / datacenter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1E276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Cliente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DCE6F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Proveedor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</a:tr>
            </a:tbl>
          </a:graphicData>
        </a:graphic>
      </p:graphicFrame>
      <p:sp>
        <p:nvSpPr>
          <p:cNvPr id="99" name="Shape 2"/>
          <p:cNvSpPr/>
          <p:nvPr/>
        </p:nvSpPr>
        <p:spPr>
          <a:xfrm>
            <a:off x="502920" y="42246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0" descr="preencoded.png"/>
          <p:cNvPicPr/>
          <p:nvPr/>
        </p:nvPicPr>
        <p:blipFill>
          <a:blip r:embed="rId1"/>
          <a:stretch/>
        </p:blipFill>
        <p:spPr>
          <a:xfrm>
            <a:off x="591480" y="43131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"/>
          <p:cNvSpPr/>
          <p:nvPr/>
        </p:nvSpPr>
        <p:spPr>
          <a:xfrm>
            <a:off x="1051560" y="4187880"/>
            <a:ext cx="7589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Mensaje clave: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los datos, las identidades y los endpoints son SIEMPRE responsabilidad del cliente, sin importar el modelo.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Ejemplos concretos en Azure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"/>
          <p:cNvSpPr/>
          <p:nvPr/>
        </p:nvSpPr>
        <p:spPr>
          <a:xfrm>
            <a:off x="502920" y="1325880"/>
            <a:ext cx="2596680" cy="260568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704160" y="1536120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0" descr="preencoded.png"/>
          <p:cNvPicPr/>
          <p:nvPr/>
        </p:nvPicPr>
        <p:blipFill>
          <a:blip r:embed="rId1"/>
          <a:stretch/>
        </p:blipFill>
        <p:spPr>
          <a:xfrm>
            <a:off x="808560" y="164088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4"/>
          <p:cNvSpPr/>
          <p:nvPr/>
        </p:nvSpPr>
        <p:spPr>
          <a:xfrm>
            <a:off x="704160" y="2103120"/>
            <a:ext cx="2194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IaaS — Azure VM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704160" y="265176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Microsoft: hasta el hipervisor.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Cliente: parcha el SO invitado, configura NSG / firewall, endurece la aplicación.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6"/>
          <p:cNvSpPr/>
          <p:nvPr/>
        </p:nvSpPr>
        <p:spPr>
          <a:xfrm>
            <a:off x="3273480" y="1325880"/>
            <a:ext cx="2596680" cy="260568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3474720" y="1536120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1" descr="preencoded.png"/>
          <p:cNvPicPr/>
          <p:nvPr/>
        </p:nvPicPr>
        <p:blipFill>
          <a:blip r:embed="rId2"/>
          <a:stretch/>
        </p:blipFill>
        <p:spPr>
          <a:xfrm>
            <a:off x="3579480" y="164088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8"/>
          <p:cNvSpPr/>
          <p:nvPr/>
        </p:nvSpPr>
        <p:spPr>
          <a:xfrm>
            <a:off x="3474720" y="2103120"/>
            <a:ext cx="2194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PaaS — App Service, Azure SQL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3474720" y="265176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Microsoft: parcha runtime y SO.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Cliente: código, cadenas de conexión, reglas de firewall, clasificación de datos.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0"/>
          <p:cNvSpPr/>
          <p:nvPr/>
        </p:nvSpPr>
        <p:spPr>
          <a:xfrm>
            <a:off x="6044040" y="1325880"/>
            <a:ext cx="2596680" cy="260568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1"/>
          <p:cNvSpPr/>
          <p:nvPr/>
        </p:nvSpPr>
        <p:spPr>
          <a:xfrm>
            <a:off x="6245280" y="1536120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2" descr="preencoded.png"/>
          <p:cNvPicPr/>
          <p:nvPr/>
        </p:nvPicPr>
        <p:blipFill>
          <a:blip r:embed="rId3"/>
          <a:stretch/>
        </p:blipFill>
        <p:spPr>
          <a:xfrm>
            <a:off x="6350040" y="164088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12"/>
          <p:cNvSpPr/>
          <p:nvPr/>
        </p:nvSpPr>
        <p:spPr>
          <a:xfrm>
            <a:off x="6245280" y="2103120"/>
            <a:ext cx="2194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SaaS — Microsoft 365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3"/>
          <p:cNvSpPr/>
          <p:nvPr/>
        </p:nvSpPr>
        <p:spPr>
          <a:xfrm>
            <a:off x="6245280" y="265176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Microsoft: opera la aplicación completa.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Cliente: políticas de acceso y retención, protección de sus identidades.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4"/>
          <p:cNvSpPr/>
          <p:nvPr/>
        </p:nvSpPr>
        <p:spPr>
          <a:xfrm>
            <a:off x="502920" y="42246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Image 3" descr="preencoded.png"/>
          <p:cNvPicPr/>
          <p:nvPr/>
        </p:nvPicPr>
        <p:blipFill>
          <a:blip r:embed="rId4"/>
          <a:stretch/>
        </p:blipFill>
        <p:spPr>
          <a:xfrm>
            <a:off x="591480" y="43131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15"/>
          <p:cNvSpPr/>
          <p:nvPr/>
        </p:nvSpPr>
        <p:spPr>
          <a:xfrm>
            <a:off x="1051560" y="4187880"/>
            <a:ext cx="7589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Nota: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Microsoft no inspecciona ni monitorea las aplicaciones del cliente — el monitoreo de tus recursos es tuyo.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Implicaciones para SecOps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"/>
          <p:cNvSpPr/>
          <p:nvPr/>
        </p:nvSpPr>
        <p:spPr>
          <a:xfrm>
            <a:off x="502920" y="16322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Image 0" descr="preencoded.png"/>
          <p:cNvPicPr/>
          <p:nvPr/>
        </p:nvPicPr>
        <p:blipFill>
          <a:blip r:embed="rId1"/>
          <a:stretch/>
        </p:blipFill>
        <p:spPr>
          <a:xfrm>
            <a:off x="591480" y="17208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Text 3"/>
          <p:cNvSpPr/>
          <p:nvPr/>
        </p:nvSpPr>
        <p:spPr>
          <a:xfrm>
            <a:off x="1069920" y="141732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Las brechas más comunes no son del proveedor.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La mayoría de los incidentes en nube provienen de malas configuraciones del lado del cliente.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502920" y="250092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1" descr="preencoded.png"/>
          <p:cNvPicPr/>
          <p:nvPr/>
        </p:nvPicPr>
        <p:blipFill>
          <a:blip r:embed="rId2"/>
          <a:stretch/>
        </p:blipFill>
        <p:spPr>
          <a:xfrm>
            <a:off x="591480" y="258948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5"/>
          <p:cNvSpPr/>
          <p:nvPr/>
        </p:nvSpPr>
        <p:spPr>
          <a:xfrm>
            <a:off x="1069920" y="228600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Define el alcance de tu programa de seguridad.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Todo lo que el proveedor no cubre debe entrar a tu gestión de riesgos.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502920" y="33696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2" descr="preencoded.png"/>
          <p:cNvPicPr/>
          <p:nvPr/>
        </p:nvPicPr>
        <p:blipFill>
          <a:blip r:embed="rId3"/>
          <a:stretch/>
        </p:blipFill>
        <p:spPr>
          <a:xfrm>
            <a:off x="591480" y="34581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Text 7"/>
          <p:cNvSpPr/>
          <p:nvPr/>
        </p:nvSpPr>
        <p:spPr>
          <a:xfrm>
            <a:off x="1069920" y="315468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La identidad se vuelve el activo crítico.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Es responsabilidad del cliente en los tres modelos — por eso el laboratorio empieza ahí.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8"/>
          <p:cNvSpPr/>
          <p:nvPr/>
        </p:nvSpPr>
        <p:spPr>
          <a:xfrm>
            <a:off x="502920" y="4069080"/>
            <a:ext cx="8137800" cy="65808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9"/>
          <p:cNvSpPr/>
          <p:nvPr/>
        </p:nvSpPr>
        <p:spPr>
          <a:xfrm>
            <a:off x="731520" y="4069080"/>
            <a:ext cx="7680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Siguiente paso →  </a:t>
            </a: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 que queda de mi lado debe gestionarse como riesgo: Gestión de Riesgos.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3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Gestión de Riesgos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6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GESTIÓN DE RIESGOS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Conceptos base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02920" y="1325880"/>
            <a:ext cx="239544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667440" y="1490400"/>
            <a:ext cx="402120" cy="402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Image 0" descr="preencoded.png"/>
          <p:cNvPicPr/>
          <p:nvPr/>
        </p:nvPicPr>
        <p:blipFill>
          <a:blip r:embed="rId1"/>
          <a:stretch/>
        </p:blipFill>
        <p:spPr>
          <a:xfrm>
            <a:off x="756000" y="1578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 4"/>
          <p:cNvSpPr/>
          <p:nvPr/>
        </p:nvSpPr>
        <p:spPr>
          <a:xfrm>
            <a:off x="1161360" y="1490400"/>
            <a:ext cx="1572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Activo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7440" y="1984320"/>
            <a:ext cx="2066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 que tiene valor: datos, servicios, reputación.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6"/>
          <p:cNvSpPr/>
          <p:nvPr/>
        </p:nvSpPr>
        <p:spPr>
          <a:xfrm>
            <a:off x="3099960" y="1325880"/>
            <a:ext cx="239544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7"/>
          <p:cNvSpPr/>
          <p:nvPr/>
        </p:nvSpPr>
        <p:spPr>
          <a:xfrm>
            <a:off x="3264480" y="1490400"/>
            <a:ext cx="402120" cy="402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preencoded.png"/>
          <p:cNvPicPr/>
          <p:nvPr/>
        </p:nvPicPr>
        <p:blipFill>
          <a:blip r:embed="rId2"/>
          <a:stretch/>
        </p:blipFill>
        <p:spPr>
          <a:xfrm>
            <a:off x="3353040" y="1578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8"/>
          <p:cNvSpPr/>
          <p:nvPr/>
        </p:nvSpPr>
        <p:spPr>
          <a:xfrm>
            <a:off x="3758040" y="1490400"/>
            <a:ext cx="1572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Amenaza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3264480" y="1984320"/>
            <a:ext cx="2066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Evento potencial que puede causar daño (actor o accidente).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0"/>
          <p:cNvSpPr/>
          <p:nvPr/>
        </p:nvSpPr>
        <p:spPr>
          <a:xfrm>
            <a:off x="502920" y="3035880"/>
            <a:ext cx="239544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1"/>
          <p:cNvSpPr/>
          <p:nvPr/>
        </p:nvSpPr>
        <p:spPr>
          <a:xfrm>
            <a:off x="667440" y="3200400"/>
            <a:ext cx="402120" cy="402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" name="Image 2" descr="preencoded.png"/>
          <p:cNvPicPr/>
          <p:nvPr/>
        </p:nvPicPr>
        <p:blipFill>
          <a:blip r:embed="rId3"/>
          <a:stretch/>
        </p:blipFill>
        <p:spPr>
          <a:xfrm>
            <a:off x="756000" y="3288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12"/>
          <p:cNvSpPr/>
          <p:nvPr/>
        </p:nvSpPr>
        <p:spPr>
          <a:xfrm>
            <a:off x="1161360" y="3200400"/>
            <a:ext cx="1572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Vulnerabilidad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3"/>
          <p:cNvSpPr/>
          <p:nvPr/>
        </p:nvSpPr>
        <p:spPr>
          <a:xfrm>
            <a:off x="667440" y="3694320"/>
            <a:ext cx="2066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Debilidad explotable de un activo o proceso.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4"/>
          <p:cNvSpPr/>
          <p:nvPr/>
        </p:nvSpPr>
        <p:spPr>
          <a:xfrm>
            <a:off x="3099960" y="3035880"/>
            <a:ext cx="239544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5"/>
          <p:cNvSpPr/>
          <p:nvPr/>
        </p:nvSpPr>
        <p:spPr>
          <a:xfrm>
            <a:off x="3264480" y="3200400"/>
            <a:ext cx="402120" cy="402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3" descr="preencoded.png"/>
          <p:cNvPicPr/>
          <p:nvPr/>
        </p:nvPicPr>
        <p:blipFill>
          <a:blip r:embed="rId4"/>
          <a:stretch/>
        </p:blipFill>
        <p:spPr>
          <a:xfrm>
            <a:off x="3353040" y="3288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16"/>
          <p:cNvSpPr/>
          <p:nvPr/>
        </p:nvSpPr>
        <p:spPr>
          <a:xfrm>
            <a:off x="3758040" y="3200400"/>
            <a:ext cx="1572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Riesgo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3264480" y="3694320"/>
            <a:ext cx="20660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Posibilidad de que una amenaza explote una vulnerabilidad y afecte un activo.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8"/>
          <p:cNvSpPr/>
          <p:nvPr/>
        </p:nvSpPr>
        <p:spPr>
          <a:xfrm>
            <a:off x="5623560" y="1325880"/>
            <a:ext cx="3017160" cy="1481040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5623560" y="1481400"/>
            <a:ext cx="3017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RIESGO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5623560" y="178308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Probabilidad × Impacto</a:t>
            </a:r>
            <a:endParaRPr lang="es-CO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1"/>
          <p:cNvSpPr/>
          <p:nvPr/>
        </p:nvSpPr>
        <p:spPr>
          <a:xfrm>
            <a:off x="5623560" y="3035880"/>
            <a:ext cx="3017160" cy="1481040"/>
          </a:xfrm>
          <a:prstGeom prst="roundRect">
            <a:avLst>
              <a:gd name="adj" fmla="val 5556"/>
            </a:avLst>
          </a:prstGeom>
          <a:solidFill>
            <a:srgbClr val="E2F6F3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5806440" y="3154680"/>
            <a:ext cx="26514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5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No confundir: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Amenaza: la lluvia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Vulnerabilidad: el techo roto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Riesgo: inundación del datacenter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GESTIÓN DE RIESGOS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ciclo de gestión (ISO 31000 / NIST RMF)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502920" y="1463040"/>
            <a:ext cx="1481040" cy="169128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1014840" y="164592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1014840" y="16459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5"/>
          <p:cNvSpPr/>
          <p:nvPr/>
        </p:nvSpPr>
        <p:spPr>
          <a:xfrm>
            <a:off x="548640" y="2176200"/>
            <a:ext cx="1389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Identificar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"/>
          <p:cNvSpPr/>
          <p:nvPr/>
        </p:nvSpPr>
        <p:spPr>
          <a:xfrm>
            <a:off x="594360" y="2468880"/>
            <a:ext cx="12981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Inventario de activos y amenazas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2157840" y="1463040"/>
            <a:ext cx="1481040" cy="169128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8"/>
          <p:cNvSpPr/>
          <p:nvPr/>
        </p:nvSpPr>
        <p:spPr>
          <a:xfrm>
            <a:off x="2670120" y="164592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9"/>
          <p:cNvSpPr/>
          <p:nvPr/>
        </p:nvSpPr>
        <p:spPr>
          <a:xfrm>
            <a:off x="2670120" y="16459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0"/>
          <p:cNvSpPr/>
          <p:nvPr/>
        </p:nvSpPr>
        <p:spPr>
          <a:xfrm>
            <a:off x="2203560" y="2176200"/>
            <a:ext cx="1389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Analizar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1"/>
          <p:cNvSpPr/>
          <p:nvPr/>
        </p:nvSpPr>
        <p:spPr>
          <a:xfrm>
            <a:off x="2249280" y="2468880"/>
            <a:ext cx="12981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Probabilidad e impacto, cualitativo o cuantitativo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>
            <a:off x="3813120" y="1463040"/>
            <a:ext cx="1481040" cy="169128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4325040" y="164592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4"/>
          <p:cNvSpPr/>
          <p:nvPr/>
        </p:nvSpPr>
        <p:spPr>
          <a:xfrm>
            <a:off x="4325040" y="16459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5"/>
          <p:cNvSpPr/>
          <p:nvPr/>
        </p:nvSpPr>
        <p:spPr>
          <a:xfrm>
            <a:off x="3858840" y="2176200"/>
            <a:ext cx="1389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Evaluar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6"/>
          <p:cNvSpPr/>
          <p:nvPr/>
        </p:nvSpPr>
        <p:spPr>
          <a:xfrm>
            <a:off x="3904560" y="2468880"/>
            <a:ext cx="12981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Priorizar contra el apetito de riesgo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5468040" y="1463040"/>
            <a:ext cx="1481040" cy="169128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5980320" y="164592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9"/>
          <p:cNvSpPr/>
          <p:nvPr/>
        </p:nvSpPr>
        <p:spPr>
          <a:xfrm>
            <a:off x="5980320" y="16459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0"/>
          <p:cNvSpPr/>
          <p:nvPr/>
        </p:nvSpPr>
        <p:spPr>
          <a:xfrm>
            <a:off x="5513760" y="2176200"/>
            <a:ext cx="1389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Tratar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1"/>
          <p:cNvSpPr/>
          <p:nvPr/>
        </p:nvSpPr>
        <p:spPr>
          <a:xfrm>
            <a:off x="5559480" y="2468880"/>
            <a:ext cx="12981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Elegir el tratamiento adecuado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2"/>
          <p:cNvSpPr/>
          <p:nvPr/>
        </p:nvSpPr>
        <p:spPr>
          <a:xfrm>
            <a:off x="7123320" y="1463040"/>
            <a:ext cx="1481040" cy="169128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7635240" y="164592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4"/>
          <p:cNvSpPr/>
          <p:nvPr/>
        </p:nvSpPr>
        <p:spPr>
          <a:xfrm>
            <a:off x="7635240" y="16459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5"/>
          <p:cNvSpPr/>
          <p:nvPr/>
        </p:nvSpPr>
        <p:spPr>
          <a:xfrm>
            <a:off x="7169040" y="2176200"/>
            <a:ext cx="1389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Monitorear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6"/>
          <p:cNvSpPr/>
          <p:nvPr/>
        </p:nvSpPr>
        <p:spPr>
          <a:xfrm>
            <a:off x="7214760" y="2468880"/>
            <a:ext cx="12981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El riesgo es dinámico, más aún en nube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7"/>
          <p:cNvSpPr/>
          <p:nvPr/>
        </p:nvSpPr>
        <p:spPr>
          <a:xfrm>
            <a:off x="502920" y="35204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Cuatro opciones de tratamiento: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8"/>
          <p:cNvSpPr/>
          <p:nvPr/>
        </p:nvSpPr>
        <p:spPr>
          <a:xfrm>
            <a:off x="3291840" y="3520440"/>
            <a:ext cx="1170000" cy="365400"/>
          </a:xfrm>
          <a:prstGeom prst="roundRect">
            <a:avLst>
              <a:gd name="adj" fmla="val 50000"/>
            </a:avLst>
          </a:prstGeom>
          <a:solidFill>
            <a:srgbClr val="E2F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9"/>
          <p:cNvSpPr/>
          <p:nvPr/>
        </p:nvSpPr>
        <p:spPr>
          <a:xfrm>
            <a:off x="3291840" y="3520440"/>
            <a:ext cx="1170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30"/>
          <p:cNvSpPr/>
          <p:nvPr/>
        </p:nvSpPr>
        <p:spPr>
          <a:xfrm>
            <a:off x="4590360" y="3520440"/>
            <a:ext cx="1170000" cy="365400"/>
          </a:xfrm>
          <a:prstGeom prst="roundRect">
            <a:avLst>
              <a:gd name="adj" fmla="val 50000"/>
            </a:avLst>
          </a:prstGeom>
          <a:solidFill>
            <a:srgbClr val="E2F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1"/>
          <p:cNvSpPr/>
          <p:nvPr/>
        </p:nvSpPr>
        <p:spPr>
          <a:xfrm>
            <a:off x="4590360" y="3520440"/>
            <a:ext cx="1170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Transferir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2"/>
          <p:cNvSpPr/>
          <p:nvPr/>
        </p:nvSpPr>
        <p:spPr>
          <a:xfrm>
            <a:off x="5888880" y="3520440"/>
            <a:ext cx="1170000" cy="365400"/>
          </a:xfrm>
          <a:prstGeom prst="roundRect">
            <a:avLst>
              <a:gd name="adj" fmla="val 50000"/>
            </a:avLst>
          </a:prstGeom>
          <a:solidFill>
            <a:srgbClr val="E2F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3"/>
          <p:cNvSpPr/>
          <p:nvPr/>
        </p:nvSpPr>
        <p:spPr>
          <a:xfrm>
            <a:off x="5888880" y="3520440"/>
            <a:ext cx="1170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Aceptar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4"/>
          <p:cNvSpPr/>
          <p:nvPr/>
        </p:nvSpPr>
        <p:spPr>
          <a:xfrm>
            <a:off x="7187040" y="3520440"/>
            <a:ext cx="1170000" cy="365400"/>
          </a:xfrm>
          <a:prstGeom prst="roundRect">
            <a:avLst>
              <a:gd name="adj" fmla="val 50000"/>
            </a:avLst>
          </a:prstGeom>
          <a:solidFill>
            <a:srgbClr val="E2F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5"/>
          <p:cNvSpPr/>
          <p:nvPr/>
        </p:nvSpPr>
        <p:spPr>
          <a:xfrm>
            <a:off x="7187040" y="3520440"/>
            <a:ext cx="1170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Evitar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6"/>
          <p:cNvSpPr/>
          <p:nvPr/>
        </p:nvSpPr>
        <p:spPr>
          <a:xfrm>
            <a:off x="502920" y="416052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Los pasos 1 a 3 son exactamente lo que el threat modeling hará de forma estructurada en los próximos bloques.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GESTIÓN DE RIESGOS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Ejercicio: matriz de riesgo 5×5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"/>
          <p:cNvSpPr/>
          <p:nvPr/>
        </p:nvSpPr>
        <p:spPr>
          <a:xfrm>
            <a:off x="914400" y="32918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3"/>
          <p:cNvSpPr/>
          <p:nvPr/>
        </p:nvSpPr>
        <p:spPr>
          <a:xfrm>
            <a:off x="1371600" y="32918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"/>
          <p:cNvSpPr/>
          <p:nvPr/>
        </p:nvSpPr>
        <p:spPr>
          <a:xfrm>
            <a:off x="1828800" y="32918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5"/>
          <p:cNvSpPr/>
          <p:nvPr/>
        </p:nvSpPr>
        <p:spPr>
          <a:xfrm>
            <a:off x="2286000" y="32918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6"/>
          <p:cNvSpPr/>
          <p:nvPr/>
        </p:nvSpPr>
        <p:spPr>
          <a:xfrm>
            <a:off x="2743200" y="32918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7"/>
          <p:cNvSpPr/>
          <p:nvPr/>
        </p:nvSpPr>
        <p:spPr>
          <a:xfrm>
            <a:off x="914400" y="28346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8"/>
          <p:cNvSpPr/>
          <p:nvPr/>
        </p:nvSpPr>
        <p:spPr>
          <a:xfrm>
            <a:off x="1371600" y="28346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9"/>
          <p:cNvSpPr/>
          <p:nvPr/>
        </p:nvSpPr>
        <p:spPr>
          <a:xfrm>
            <a:off x="1828800" y="28346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0"/>
          <p:cNvSpPr/>
          <p:nvPr/>
        </p:nvSpPr>
        <p:spPr>
          <a:xfrm>
            <a:off x="2286000" y="28346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1"/>
          <p:cNvSpPr/>
          <p:nvPr/>
        </p:nvSpPr>
        <p:spPr>
          <a:xfrm>
            <a:off x="2743200" y="28346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2"/>
          <p:cNvSpPr/>
          <p:nvPr/>
        </p:nvSpPr>
        <p:spPr>
          <a:xfrm>
            <a:off x="914400" y="23774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3"/>
          <p:cNvSpPr/>
          <p:nvPr/>
        </p:nvSpPr>
        <p:spPr>
          <a:xfrm>
            <a:off x="1371600" y="23774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4"/>
          <p:cNvSpPr/>
          <p:nvPr/>
        </p:nvSpPr>
        <p:spPr>
          <a:xfrm>
            <a:off x="1828800" y="23774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5"/>
          <p:cNvSpPr/>
          <p:nvPr/>
        </p:nvSpPr>
        <p:spPr>
          <a:xfrm>
            <a:off x="2286000" y="23774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6"/>
          <p:cNvSpPr/>
          <p:nvPr/>
        </p:nvSpPr>
        <p:spPr>
          <a:xfrm>
            <a:off x="2743200" y="23774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7"/>
          <p:cNvSpPr/>
          <p:nvPr/>
        </p:nvSpPr>
        <p:spPr>
          <a:xfrm>
            <a:off x="914400" y="1920240"/>
            <a:ext cx="429480" cy="429480"/>
          </a:xfrm>
          <a:prstGeom prst="rect">
            <a:avLst/>
          </a:prstGeom>
          <a:solidFill>
            <a:srgbClr val="8FCB9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8"/>
          <p:cNvSpPr/>
          <p:nvPr/>
        </p:nvSpPr>
        <p:spPr>
          <a:xfrm>
            <a:off x="1371600" y="19202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9"/>
          <p:cNvSpPr/>
          <p:nvPr/>
        </p:nvSpPr>
        <p:spPr>
          <a:xfrm>
            <a:off x="1828800" y="19202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0"/>
          <p:cNvSpPr/>
          <p:nvPr/>
        </p:nvSpPr>
        <p:spPr>
          <a:xfrm>
            <a:off x="2286000" y="19202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1"/>
          <p:cNvSpPr/>
          <p:nvPr/>
        </p:nvSpPr>
        <p:spPr>
          <a:xfrm>
            <a:off x="2743200" y="19202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2"/>
          <p:cNvSpPr/>
          <p:nvPr/>
        </p:nvSpPr>
        <p:spPr>
          <a:xfrm>
            <a:off x="914400" y="14630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3"/>
          <p:cNvSpPr/>
          <p:nvPr/>
        </p:nvSpPr>
        <p:spPr>
          <a:xfrm>
            <a:off x="1371600" y="1463040"/>
            <a:ext cx="429480" cy="429480"/>
          </a:xfrm>
          <a:prstGeom prst="rect">
            <a:avLst/>
          </a:prstGeom>
          <a:solidFill>
            <a:srgbClr val="F5D6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4"/>
          <p:cNvSpPr/>
          <p:nvPr/>
        </p:nvSpPr>
        <p:spPr>
          <a:xfrm>
            <a:off x="1828800" y="14630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5"/>
          <p:cNvSpPr/>
          <p:nvPr/>
        </p:nvSpPr>
        <p:spPr>
          <a:xfrm>
            <a:off x="2286000" y="14630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6"/>
          <p:cNvSpPr/>
          <p:nvPr/>
        </p:nvSpPr>
        <p:spPr>
          <a:xfrm>
            <a:off x="2743200" y="1463040"/>
            <a:ext cx="429480" cy="429480"/>
          </a:xfrm>
          <a:prstGeom prst="rect">
            <a:avLst/>
          </a:prstGeom>
          <a:solidFill>
            <a:srgbClr val="E88B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7"/>
          <p:cNvSpPr/>
          <p:nvPr/>
        </p:nvSpPr>
        <p:spPr>
          <a:xfrm>
            <a:off x="914400" y="3794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Impacto →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8"/>
          <p:cNvSpPr/>
          <p:nvPr/>
        </p:nvSpPr>
        <p:spPr>
          <a:xfrm rot="16200000">
            <a:off x="-365400" y="246924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Probabilidad →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9"/>
          <p:cNvSpPr/>
          <p:nvPr/>
        </p:nvSpPr>
        <p:spPr>
          <a:xfrm>
            <a:off x="3931920" y="1371600"/>
            <a:ext cx="4708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Clasifiquen estos riesgos de un e-commerce en nube (grupos de 3-4, 5 min):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0"/>
          <p:cNvSpPr/>
          <p:nvPr/>
        </p:nvSpPr>
        <p:spPr>
          <a:xfrm>
            <a:off x="3931920" y="1984320"/>
            <a:ext cx="365400" cy="3654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1"/>
          <p:cNvSpPr/>
          <p:nvPr/>
        </p:nvSpPr>
        <p:spPr>
          <a:xfrm>
            <a:off x="3931920" y="198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2"/>
          <p:cNvSpPr/>
          <p:nvPr/>
        </p:nvSpPr>
        <p:spPr>
          <a:xfrm>
            <a:off x="4434840" y="19386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Credenciales de administrador filtradas en un repositorio público.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3"/>
          <p:cNvSpPr/>
          <p:nvPr/>
        </p:nvSpPr>
        <p:spPr>
          <a:xfrm>
            <a:off x="3931920" y="2551320"/>
            <a:ext cx="365400" cy="3654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4"/>
          <p:cNvSpPr/>
          <p:nvPr/>
        </p:nvSpPr>
        <p:spPr>
          <a:xfrm>
            <a:off x="3931920" y="2551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5"/>
          <p:cNvSpPr/>
          <p:nvPr/>
        </p:nvSpPr>
        <p:spPr>
          <a:xfrm>
            <a:off x="4434840" y="25056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Contenedor con imagen base vulnerable en producción.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36"/>
          <p:cNvSpPr/>
          <p:nvPr/>
        </p:nvSpPr>
        <p:spPr>
          <a:xfrm>
            <a:off x="3931920" y="3117960"/>
            <a:ext cx="365400" cy="3654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7"/>
          <p:cNvSpPr/>
          <p:nvPr/>
        </p:nvSpPr>
        <p:spPr>
          <a:xfrm>
            <a:off x="3931920" y="3117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8"/>
          <p:cNvSpPr/>
          <p:nvPr/>
        </p:nvSpPr>
        <p:spPr>
          <a:xfrm>
            <a:off x="4434840" y="307224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Caída regional del proveedor de nube.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39"/>
          <p:cNvSpPr/>
          <p:nvPr/>
        </p:nvSpPr>
        <p:spPr>
          <a:xfrm>
            <a:off x="3931920" y="3684960"/>
            <a:ext cx="365400" cy="3654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0"/>
          <p:cNvSpPr/>
          <p:nvPr/>
        </p:nvSpPr>
        <p:spPr>
          <a:xfrm>
            <a:off x="3931920" y="3684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41"/>
          <p:cNvSpPr/>
          <p:nvPr/>
        </p:nvSpPr>
        <p:spPr>
          <a:xfrm>
            <a:off x="4434840" y="363924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Empleado con permisos excesivos que ya cambió de rol.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2"/>
          <p:cNvSpPr/>
          <p:nvPr/>
        </p:nvSpPr>
        <p:spPr>
          <a:xfrm>
            <a:off x="3931920" y="42976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Discusión: </a:t>
            </a: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¿qué tratamiento aplica a cada uno — mitigar, transferir, aceptar o evitar?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GESTIÓN DE RIESGOS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Gestión de riesgos en la nube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"/>
          <p:cNvSpPr/>
          <p:nvPr/>
        </p:nvSpPr>
        <p:spPr>
          <a:xfrm>
            <a:off x="502920" y="16322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Image 0" descr="preencoded.png"/>
          <p:cNvPicPr/>
          <p:nvPr/>
        </p:nvPicPr>
        <p:blipFill>
          <a:blip r:embed="rId1"/>
          <a:stretch/>
        </p:blipFill>
        <p:spPr>
          <a:xfrm>
            <a:off x="591480" y="17208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Text 3"/>
          <p:cNvSpPr/>
          <p:nvPr/>
        </p:nvSpPr>
        <p:spPr>
          <a:xfrm>
            <a:off x="1069920" y="141732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riesgo se comparte, pero no se transfiere por completo.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El proveedor asume capas de la pila; la responsabilidad final sobre datos e identidades sigue siendo tuya.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502920" y="250092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1" descr="preencoded.png"/>
          <p:cNvPicPr/>
          <p:nvPr/>
        </p:nvPicPr>
        <p:blipFill>
          <a:blip r:embed="rId2"/>
          <a:stretch/>
        </p:blipFill>
        <p:spPr>
          <a:xfrm>
            <a:off x="591480" y="258948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5"/>
          <p:cNvSpPr/>
          <p:nvPr/>
        </p:nvSpPr>
        <p:spPr>
          <a:xfrm>
            <a:off x="1069920" y="228600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Nuevos vectores propios de la nube.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Identidades sobre-privilegiadas, APIs expuestas, shadow IT y mala configuración de servicios.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6"/>
          <p:cNvSpPr/>
          <p:nvPr/>
        </p:nvSpPr>
        <p:spPr>
          <a:xfrm>
            <a:off x="502920" y="33696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Image 2" descr="preencoded.png"/>
          <p:cNvPicPr/>
          <p:nvPr/>
        </p:nvPicPr>
        <p:blipFill>
          <a:blip r:embed="rId3"/>
          <a:stretch/>
        </p:blipFill>
        <p:spPr>
          <a:xfrm>
            <a:off x="591480" y="34581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 7"/>
          <p:cNvSpPr/>
          <p:nvPr/>
        </p:nvSpPr>
        <p:spPr>
          <a:xfrm>
            <a:off x="1069920" y="3154680"/>
            <a:ext cx="7570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riesgo alimenta las decisiones técnicas.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¿Qué modelar primero? ¿Dónde invertir en controles? La priorización sale de aquí.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8"/>
          <p:cNvSpPr/>
          <p:nvPr/>
        </p:nvSpPr>
        <p:spPr>
          <a:xfrm>
            <a:off x="502920" y="4069080"/>
            <a:ext cx="8137800" cy="65808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9"/>
          <p:cNvSpPr/>
          <p:nvPr/>
        </p:nvSpPr>
        <p:spPr>
          <a:xfrm>
            <a:off x="731520" y="4069080"/>
            <a:ext cx="7680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Siguiente paso →  </a:t>
            </a: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identificar amenazas de forma estructurada: Threat Modeling.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4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Threat Modeling: Fundamentos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15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6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THREAT MODELING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¿Qué es el threat modeling?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502920" y="1371600"/>
            <a:ext cx="8137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Proceso estructurado para identificar, enumerar y priorizar amenazas ANTES de que ocurran, idealmente en fase de diseño (shift-left).</a:t>
            </a:r>
            <a:endParaRPr lang="es-CO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Es la actividad de seguridad con mejor relación costo/beneficio: corregir en diseño cuesta órdenes de magnitud menos que en producción.</a:t>
            </a:r>
            <a:endParaRPr lang="es-CO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6314E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Encaja en la fase Plan/Design del pipeline DevSecOps que estructura este curso.</a:t>
            </a:r>
            <a:endParaRPr lang="es-CO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3"/>
          <p:cNvSpPr/>
          <p:nvPr/>
        </p:nvSpPr>
        <p:spPr>
          <a:xfrm>
            <a:off x="502920" y="3657600"/>
            <a:ext cx="1599840" cy="502560"/>
          </a:xfrm>
          <a:prstGeom prst="roundRect">
            <a:avLst>
              <a:gd name="adj" fmla="val 16364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4"/>
          <p:cNvSpPr/>
          <p:nvPr/>
        </p:nvSpPr>
        <p:spPr>
          <a:xfrm>
            <a:off x="502920" y="365760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Plan / Design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5"/>
          <p:cNvSpPr/>
          <p:nvPr/>
        </p:nvSpPr>
        <p:spPr>
          <a:xfrm>
            <a:off x="2231280" y="3657600"/>
            <a:ext cx="1051200" cy="502560"/>
          </a:xfrm>
          <a:prstGeom prst="roundRect">
            <a:avLst>
              <a:gd name="adj" fmla="val 16364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6"/>
          <p:cNvSpPr/>
          <p:nvPr/>
        </p:nvSpPr>
        <p:spPr>
          <a:xfrm>
            <a:off x="2231280" y="3657600"/>
            <a:ext cx="1051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7"/>
          <p:cNvSpPr/>
          <p:nvPr/>
        </p:nvSpPr>
        <p:spPr>
          <a:xfrm>
            <a:off x="3410640" y="3657600"/>
            <a:ext cx="1051200" cy="502560"/>
          </a:xfrm>
          <a:prstGeom prst="roundRect">
            <a:avLst>
              <a:gd name="adj" fmla="val 16364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8"/>
          <p:cNvSpPr/>
          <p:nvPr/>
        </p:nvSpPr>
        <p:spPr>
          <a:xfrm>
            <a:off x="3410640" y="3657600"/>
            <a:ext cx="1051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Build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9"/>
          <p:cNvSpPr/>
          <p:nvPr/>
        </p:nvSpPr>
        <p:spPr>
          <a:xfrm>
            <a:off x="4590360" y="3657600"/>
            <a:ext cx="1051200" cy="502560"/>
          </a:xfrm>
          <a:prstGeom prst="roundRect">
            <a:avLst>
              <a:gd name="adj" fmla="val 16364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0"/>
          <p:cNvSpPr/>
          <p:nvPr/>
        </p:nvSpPr>
        <p:spPr>
          <a:xfrm>
            <a:off x="4590360" y="3657600"/>
            <a:ext cx="1051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1"/>
          <p:cNvSpPr/>
          <p:nvPr/>
        </p:nvSpPr>
        <p:spPr>
          <a:xfrm>
            <a:off x="5769720" y="3657600"/>
            <a:ext cx="1142640" cy="502560"/>
          </a:xfrm>
          <a:prstGeom prst="roundRect">
            <a:avLst>
              <a:gd name="adj" fmla="val 16364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2"/>
          <p:cNvSpPr/>
          <p:nvPr/>
        </p:nvSpPr>
        <p:spPr>
          <a:xfrm>
            <a:off x="5769720" y="3657600"/>
            <a:ext cx="1142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Deploy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3"/>
          <p:cNvSpPr/>
          <p:nvPr/>
        </p:nvSpPr>
        <p:spPr>
          <a:xfrm>
            <a:off x="7040880" y="3657600"/>
            <a:ext cx="1234080" cy="502560"/>
          </a:xfrm>
          <a:prstGeom prst="roundRect">
            <a:avLst>
              <a:gd name="adj" fmla="val 16364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4"/>
          <p:cNvSpPr/>
          <p:nvPr/>
        </p:nvSpPr>
        <p:spPr>
          <a:xfrm>
            <a:off x="7040880" y="3657600"/>
            <a:ext cx="1234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Monitor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5"/>
          <p:cNvSpPr/>
          <p:nvPr/>
        </p:nvSpPr>
        <p:spPr>
          <a:xfrm>
            <a:off x="502920" y="431604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El threat modeling vive aquí — antes de escribir la primera línea de código.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THREAT MODELING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Las 4 preguntas (Shostack, adoptado por OWASP)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"/>
          <p:cNvSpPr/>
          <p:nvPr/>
        </p:nvSpPr>
        <p:spPr>
          <a:xfrm>
            <a:off x="502920" y="1371600"/>
            <a:ext cx="394992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685800" y="155448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685800" y="1554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1280160" y="152712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¿Qué estamos construyendo?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1280160" y="2103120"/>
            <a:ext cx="298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Diagramas de arquitectura y de flujo de datos (DFD).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7"/>
          <p:cNvSpPr/>
          <p:nvPr/>
        </p:nvSpPr>
        <p:spPr>
          <a:xfrm>
            <a:off x="4690800" y="1371600"/>
            <a:ext cx="394992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8"/>
          <p:cNvSpPr/>
          <p:nvPr/>
        </p:nvSpPr>
        <p:spPr>
          <a:xfrm>
            <a:off x="4873680" y="155448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9"/>
          <p:cNvSpPr/>
          <p:nvPr/>
        </p:nvSpPr>
        <p:spPr>
          <a:xfrm>
            <a:off x="4873680" y="15544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0"/>
          <p:cNvSpPr/>
          <p:nvPr/>
        </p:nvSpPr>
        <p:spPr>
          <a:xfrm>
            <a:off x="5468040" y="152712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¿Qué puede salir mal?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1"/>
          <p:cNvSpPr/>
          <p:nvPr/>
        </p:nvSpPr>
        <p:spPr>
          <a:xfrm>
            <a:off x="5468040" y="2103120"/>
            <a:ext cx="298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Identificación de amenazas: aquí entran STRIDE y otras taxonomías.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2"/>
          <p:cNvSpPr/>
          <p:nvPr/>
        </p:nvSpPr>
        <p:spPr>
          <a:xfrm>
            <a:off x="502920" y="3108960"/>
            <a:ext cx="394992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3"/>
          <p:cNvSpPr/>
          <p:nvPr/>
        </p:nvSpPr>
        <p:spPr>
          <a:xfrm>
            <a:off x="685800" y="329184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4"/>
          <p:cNvSpPr/>
          <p:nvPr/>
        </p:nvSpPr>
        <p:spPr>
          <a:xfrm>
            <a:off x="685800" y="3291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5"/>
          <p:cNvSpPr/>
          <p:nvPr/>
        </p:nvSpPr>
        <p:spPr>
          <a:xfrm>
            <a:off x="1280160" y="326448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¿Qué vamos a hacer al respecto?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6"/>
          <p:cNvSpPr/>
          <p:nvPr/>
        </p:nvSpPr>
        <p:spPr>
          <a:xfrm>
            <a:off x="1280160" y="3840480"/>
            <a:ext cx="298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Controles y mitigaciones, priorizados como backlog.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7"/>
          <p:cNvSpPr/>
          <p:nvPr/>
        </p:nvSpPr>
        <p:spPr>
          <a:xfrm>
            <a:off x="4690800" y="3108960"/>
            <a:ext cx="3949920" cy="1481040"/>
          </a:xfrm>
          <a:prstGeom prst="roundRect">
            <a:avLst>
              <a:gd name="adj" fmla="val 555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8"/>
          <p:cNvSpPr/>
          <p:nvPr/>
        </p:nvSpPr>
        <p:spPr>
          <a:xfrm>
            <a:off x="4873680" y="329184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9"/>
          <p:cNvSpPr/>
          <p:nvPr/>
        </p:nvSpPr>
        <p:spPr>
          <a:xfrm>
            <a:off x="4873680" y="3291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0"/>
          <p:cNvSpPr/>
          <p:nvPr/>
        </p:nvSpPr>
        <p:spPr>
          <a:xfrm>
            <a:off x="5468040" y="326448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¿Lo hicimos bien?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1"/>
          <p:cNvSpPr/>
          <p:nvPr/>
        </p:nvSpPr>
        <p:spPr>
          <a:xfrm>
            <a:off x="5468040" y="3840480"/>
            <a:ext cx="2989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Validación y revisión continua del modelo.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THREAT MODELING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insumo: Data Flow Diagram (DFD)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502920" y="140832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 0" descr="preencoded.png"/>
          <p:cNvPicPr/>
          <p:nvPr/>
        </p:nvPicPr>
        <p:blipFill>
          <a:blip r:embed="rId1"/>
          <a:stretch/>
        </p:blipFill>
        <p:spPr>
          <a:xfrm>
            <a:off x="591480" y="14965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Text 3"/>
          <p:cNvSpPr/>
          <p:nvPr/>
        </p:nvSpPr>
        <p:spPr>
          <a:xfrm>
            <a:off x="1069920" y="1298520"/>
            <a:ext cx="43704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Entidades externas. </a:t>
            </a: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Usuarios, sistemas de terceros — todo lo que interactúa desde afuera.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502920" y="20664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" name="Image 1" descr="preencoded.png"/>
          <p:cNvPicPr/>
          <p:nvPr/>
        </p:nvPicPr>
        <p:blipFill>
          <a:blip r:embed="rId2"/>
          <a:stretch/>
        </p:blipFill>
        <p:spPr>
          <a:xfrm>
            <a:off x="591480" y="2154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Text 5"/>
          <p:cNvSpPr/>
          <p:nvPr/>
        </p:nvSpPr>
        <p:spPr>
          <a:xfrm>
            <a:off x="1069920" y="1956960"/>
            <a:ext cx="43704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Procesos. </a:t>
            </a: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Servicios, APIs, microservicios: el código que transforma datos.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6"/>
          <p:cNvSpPr/>
          <p:nvPr/>
        </p:nvSpPr>
        <p:spPr>
          <a:xfrm>
            <a:off x="502920" y="27248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2" descr="preencoded.png"/>
          <p:cNvPicPr/>
          <p:nvPr/>
        </p:nvPicPr>
        <p:blipFill>
          <a:blip r:embed="rId3"/>
          <a:stretch/>
        </p:blipFill>
        <p:spPr>
          <a:xfrm>
            <a:off x="591480" y="28134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7"/>
          <p:cNvSpPr/>
          <p:nvPr/>
        </p:nvSpPr>
        <p:spPr>
          <a:xfrm>
            <a:off x="1069920" y="2615040"/>
            <a:ext cx="43704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Almacenes de datos. </a:t>
            </a: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Bases de datos, colas, blobs.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502920" y="338328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Image 3" descr="preencoded.png"/>
          <p:cNvPicPr/>
          <p:nvPr/>
        </p:nvPicPr>
        <p:blipFill>
          <a:blip r:embed="rId4"/>
          <a:stretch/>
        </p:blipFill>
        <p:spPr>
          <a:xfrm>
            <a:off x="591480" y="34718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Text 9"/>
          <p:cNvSpPr/>
          <p:nvPr/>
        </p:nvSpPr>
        <p:spPr>
          <a:xfrm>
            <a:off x="1069920" y="3273480"/>
            <a:ext cx="43704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Flujos de datos. </a:t>
            </a: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Llamadas y mensajes entre elementos.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"/>
          <p:cNvSpPr/>
          <p:nvPr/>
        </p:nvSpPr>
        <p:spPr>
          <a:xfrm>
            <a:off x="502920" y="4023360"/>
            <a:ext cx="8137800" cy="712800"/>
          </a:xfrm>
          <a:prstGeom prst="roundRect">
            <a:avLst>
              <a:gd name="adj" fmla="val 11538"/>
            </a:avLst>
          </a:prstGeom>
          <a:solidFill>
            <a:srgbClr val="FBEED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1"/>
          <p:cNvSpPr/>
          <p:nvPr/>
        </p:nvSpPr>
        <p:spPr>
          <a:xfrm>
            <a:off x="731520" y="4023360"/>
            <a:ext cx="76806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A6116"/>
                </a:solidFill>
                <a:effectLst/>
                <a:uFillTx/>
                <a:latin typeface="Calibri"/>
                <a:ea typeface="Calibri"/>
              </a:rPr>
              <a:t>Límites de confianza (trust boundaries): </a:t>
            </a:r>
            <a:r>
              <a:rPr lang="en-US" sz="1300" b="0" u="none" strike="noStrike">
                <a:solidFill>
                  <a:srgbClr val="8A6116"/>
                </a:solidFill>
                <a:effectLst/>
                <a:uFillTx/>
                <a:latin typeface="Calibri"/>
                <a:ea typeface="Calibri"/>
              </a:rPr>
              <a:t>donde cambia el nivel de privilegio. Ahí se concentran las amenazas.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2"/>
          <p:cNvSpPr/>
          <p:nvPr/>
        </p:nvSpPr>
        <p:spPr>
          <a:xfrm>
            <a:off x="5806440" y="1920240"/>
            <a:ext cx="776880" cy="566640"/>
          </a:xfrm>
          <a:prstGeom prst="ellipse">
            <a:avLst/>
          </a:prstGeom>
          <a:solidFill>
            <a:srgbClr val="E4EEFB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"/>
          <p:cNvSpPr/>
          <p:nvPr/>
        </p:nvSpPr>
        <p:spPr>
          <a:xfrm>
            <a:off x="5806440" y="1920240"/>
            <a:ext cx="7768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Usuario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7" name="Image 4" descr="preencoded.png"/>
          <p:cNvPicPr/>
          <p:nvPr/>
        </p:nvPicPr>
        <p:blipFill>
          <a:blip r:embed="rId5"/>
          <a:stretch/>
        </p:blipFill>
        <p:spPr>
          <a:xfrm>
            <a:off x="6656760" y="2121480"/>
            <a:ext cx="164160" cy="16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Shape 14"/>
          <p:cNvSpPr/>
          <p:nvPr/>
        </p:nvSpPr>
        <p:spPr>
          <a:xfrm>
            <a:off x="6903720" y="1920240"/>
            <a:ext cx="822600" cy="566640"/>
          </a:xfrm>
          <a:prstGeom prst="roundRect">
            <a:avLst>
              <a:gd name="adj" fmla="val 12903"/>
            </a:avLst>
          </a:prstGeom>
          <a:solidFill>
            <a:srgbClr val="E2F6F3"/>
          </a:solidFill>
          <a:ln w="12700">
            <a:solidFill>
              <a:srgbClr val="0F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5"/>
          <p:cNvSpPr/>
          <p:nvPr/>
        </p:nvSpPr>
        <p:spPr>
          <a:xfrm>
            <a:off x="6903720" y="1920240"/>
            <a:ext cx="8226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0" name="Image 5" descr="preencoded.png"/>
          <p:cNvPicPr/>
          <p:nvPr/>
        </p:nvPicPr>
        <p:blipFill>
          <a:blip r:embed="rId6"/>
          <a:stretch/>
        </p:blipFill>
        <p:spPr>
          <a:xfrm>
            <a:off x="7799760" y="2121480"/>
            <a:ext cx="164160" cy="16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Shape 16"/>
          <p:cNvSpPr/>
          <p:nvPr/>
        </p:nvSpPr>
        <p:spPr>
          <a:xfrm>
            <a:off x="8028360" y="1920240"/>
            <a:ext cx="594000" cy="566640"/>
          </a:xfrm>
          <a:prstGeom prst="rect">
            <a:avLst/>
          </a:prstGeom>
          <a:solidFill>
            <a:srgbClr val="DCE6F8"/>
          </a:solidFill>
          <a:ln w="12700">
            <a:solidFill>
              <a:srgbClr val="1E276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7"/>
          <p:cNvSpPr/>
          <p:nvPr/>
        </p:nvSpPr>
        <p:spPr>
          <a:xfrm>
            <a:off x="8028360" y="1920240"/>
            <a:ext cx="594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BD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8"/>
          <p:cNvSpPr/>
          <p:nvPr/>
        </p:nvSpPr>
        <p:spPr>
          <a:xfrm>
            <a:off x="6784560" y="1600200"/>
            <a:ext cx="360" cy="1234440"/>
          </a:xfrm>
          <a:prstGeom prst="line">
            <a:avLst/>
          </a:prstGeom>
          <a:ln w="19050">
            <a:solidFill>
              <a:srgbClr val="E9A03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9"/>
          <p:cNvSpPr/>
          <p:nvPr/>
        </p:nvSpPr>
        <p:spPr>
          <a:xfrm>
            <a:off x="6053400" y="288036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6116"/>
                </a:solidFill>
                <a:effectLst/>
                <a:uFillTx/>
                <a:latin typeface="Calibri"/>
                <a:ea typeface="Calibri"/>
              </a:rPr>
              <a:t>trust boundary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5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Ejemplo: Metodología STRIDE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6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2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STRIDE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Seis categorías, seis propiedades violadas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5" name="Table 0"/>
          <p:cNvGraphicFramePr/>
          <p:nvPr/>
        </p:nvGraphicFramePr>
        <p:xfrm>
          <a:off x="502920" y="1280160"/>
          <a:ext cx="8137800" cy="2880360"/>
        </p:xfrm>
        <a:graphic>
          <a:graphicData uri="http://schemas.openxmlformats.org/drawingml/2006/table">
            <a:tbl>
              <a:tblPr/>
              <a:tblGrid>
                <a:gridCol w="640080"/>
                <a:gridCol w="2286000"/>
                <a:gridCol w="1737360"/>
                <a:gridCol w="3474720"/>
              </a:tblGrid>
              <a:tr h="411480">
                <a:tc>
                  <a:txBody>
                    <a:bodyPr anchor="ctr">
                      <a:noAutofit/>
                    </a:bodyPr>
                    <a:p>
                      <a:endParaRPr lang="en-US" sz="11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Amenaza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Propiedad violada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Ejemplo</a:t>
                      </a:r>
                      <a:endParaRPr lang="es-CO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Spoofing (suplantación)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Autenticación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Token robado para hacerse pasar por un usuario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Tampering (manipulación)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Integridad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Alterar un mensaje en tránsito o un registro en BD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Repudiation (repudio)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 repudio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Usuario niega una transacción y no hay logs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Information Disclosure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Confidencialidad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Blob de almacenamiento público con datos de clientes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Denial of Service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Disponibilidad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Saturar una API sin rate limiting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</a:t>
                      </a:r>
                      <a:endParaRPr lang="es-CO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Elevation of Privilege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Autorización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Explotar un contenedor para ganar acceso al nodo</a:t>
                      </a:r>
                      <a:endParaRPr lang="es-CO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6" name="Text 2"/>
          <p:cNvSpPr/>
          <p:nvPr/>
        </p:nvSpPr>
        <p:spPr>
          <a:xfrm>
            <a:off x="502920" y="443484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Creada por Microsoft. Cada letra ataca una propiedad de seguridad distinta.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STRIDE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Ejemplo guiado: aplicación web de pagos</a:t>
            </a:r>
            <a:endParaRPr lang="es-C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"/>
          <p:cNvSpPr/>
          <p:nvPr/>
        </p:nvSpPr>
        <p:spPr>
          <a:xfrm>
            <a:off x="731520" y="1207080"/>
            <a:ext cx="1188360" cy="438480"/>
          </a:xfrm>
          <a:prstGeom prst="roundRect">
            <a:avLst>
              <a:gd name="adj" fmla="val 18750"/>
            </a:avLst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731520" y="1207080"/>
            <a:ext cx="1188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Usuario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1"/>
          <a:stretch/>
        </p:blipFill>
        <p:spPr>
          <a:xfrm>
            <a:off x="1974960" y="1344240"/>
            <a:ext cx="164160" cy="16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Shape 4"/>
          <p:cNvSpPr/>
          <p:nvPr/>
        </p:nvSpPr>
        <p:spPr>
          <a:xfrm>
            <a:off x="2231280" y="1207080"/>
            <a:ext cx="2102760" cy="43848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2231280" y="1207080"/>
            <a:ext cx="21027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web (App Service)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Image 1" descr="preencoded.png"/>
          <p:cNvPicPr/>
          <p:nvPr/>
        </p:nvPicPr>
        <p:blipFill>
          <a:blip r:embed="rId2"/>
          <a:stretch/>
        </p:blipFill>
        <p:spPr>
          <a:xfrm>
            <a:off x="4389120" y="1344240"/>
            <a:ext cx="164160" cy="16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Shape 6"/>
          <p:cNvSpPr/>
          <p:nvPr/>
        </p:nvSpPr>
        <p:spPr>
          <a:xfrm>
            <a:off x="4645080" y="1207080"/>
            <a:ext cx="1965600" cy="43848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7"/>
          <p:cNvSpPr/>
          <p:nvPr/>
        </p:nvSpPr>
        <p:spPr>
          <a:xfrm>
            <a:off x="4645080" y="1207080"/>
            <a:ext cx="196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pagos (AKS)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Image 2" descr="preencoded.png"/>
          <p:cNvPicPr/>
          <p:nvPr/>
        </p:nvPicPr>
        <p:blipFill>
          <a:blip r:embed="rId3"/>
          <a:stretch/>
        </p:blipFill>
        <p:spPr>
          <a:xfrm>
            <a:off x="6666120" y="1344240"/>
            <a:ext cx="164160" cy="16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8" name="Shape 8"/>
          <p:cNvSpPr/>
          <p:nvPr/>
        </p:nvSpPr>
        <p:spPr>
          <a:xfrm>
            <a:off x="6922080" y="1207080"/>
            <a:ext cx="1462680" cy="43848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9"/>
          <p:cNvSpPr/>
          <p:nvPr/>
        </p:nvSpPr>
        <p:spPr>
          <a:xfrm>
            <a:off x="6922080" y="1207080"/>
            <a:ext cx="1462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Azure SQL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0"/>
          <p:cNvSpPr/>
          <p:nvPr/>
        </p:nvSpPr>
        <p:spPr>
          <a:xfrm>
            <a:off x="502920" y="187452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1"/>
          <p:cNvSpPr/>
          <p:nvPr/>
        </p:nvSpPr>
        <p:spPr>
          <a:xfrm>
            <a:off x="640080" y="201168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2"/>
          <p:cNvSpPr/>
          <p:nvPr/>
        </p:nvSpPr>
        <p:spPr>
          <a:xfrm>
            <a:off x="640080" y="201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3"/>
          <p:cNvSpPr/>
          <p:nvPr/>
        </p:nvSpPr>
        <p:spPr>
          <a:xfrm>
            <a:off x="1124640" y="196596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Phishing de credenciales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4"/>
          <p:cNvSpPr/>
          <p:nvPr/>
        </p:nvSpPr>
        <p:spPr>
          <a:xfrm>
            <a:off x="640080" y="258768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MFA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5"/>
          <p:cNvSpPr/>
          <p:nvPr/>
        </p:nvSpPr>
        <p:spPr>
          <a:xfrm>
            <a:off x="3273480" y="187452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6"/>
          <p:cNvSpPr/>
          <p:nvPr/>
        </p:nvSpPr>
        <p:spPr>
          <a:xfrm>
            <a:off x="3410640" y="201168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7"/>
          <p:cNvSpPr/>
          <p:nvPr/>
        </p:nvSpPr>
        <p:spPr>
          <a:xfrm>
            <a:off x="3410640" y="201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8"/>
          <p:cNvSpPr/>
          <p:nvPr/>
        </p:nvSpPr>
        <p:spPr>
          <a:xfrm>
            <a:off x="3895200" y="196596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Manipular parámetros de la petición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9"/>
          <p:cNvSpPr/>
          <p:nvPr/>
        </p:nvSpPr>
        <p:spPr>
          <a:xfrm>
            <a:off x="3410640" y="258768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Validación server-side, TLS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20"/>
          <p:cNvSpPr/>
          <p:nvPr/>
        </p:nvSpPr>
        <p:spPr>
          <a:xfrm>
            <a:off x="6044040" y="187452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1"/>
          <p:cNvSpPr/>
          <p:nvPr/>
        </p:nvSpPr>
        <p:spPr>
          <a:xfrm>
            <a:off x="6181200" y="201168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2"/>
          <p:cNvSpPr/>
          <p:nvPr/>
        </p:nvSpPr>
        <p:spPr>
          <a:xfrm>
            <a:off x="6181200" y="201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3"/>
          <p:cNvSpPr/>
          <p:nvPr/>
        </p:nvSpPr>
        <p:spPr>
          <a:xfrm>
            <a:off x="6666120" y="196596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Disputa de transacciones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4"/>
          <p:cNvSpPr/>
          <p:nvPr/>
        </p:nvSpPr>
        <p:spPr>
          <a:xfrm>
            <a:off x="6181200" y="258768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Logging firmado, auditoría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5"/>
          <p:cNvSpPr/>
          <p:nvPr/>
        </p:nvSpPr>
        <p:spPr>
          <a:xfrm>
            <a:off x="502920" y="329184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26"/>
          <p:cNvSpPr/>
          <p:nvPr/>
        </p:nvSpPr>
        <p:spPr>
          <a:xfrm>
            <a:off x="640080" y="342900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7"/>
          <p:cNvSpPr/>
          <p:nvPr/>
        </p:nvSpPr>
        <p:spPr>
          <a:xfrm>
            <a:off x="640080" y="3429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I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28"/>
          <p:cNvSpPr/>
          <p:nvPr/>
        </p:nvSpPr>
        <p:spPr>
          <a:xfrm>
            <a:off x="1124640" y="338328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Exposición de datos de tarjeta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29"/>
          <p:cNvSpPr/>
          <p:nvPr/>
        </p:nvSpPr>
        <p:spPr>
          <a:xfrm>
            <a:off x="640080" y="400500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Cifrado, tokenización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30"/>
          <p:cNvSpPr/>
          <p:nvPr/>
        </p:nvSpPr>
        <p:spPr>
          <a:xfrm>
            <a:off x="3273480" y="329184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1"/>
          <p:cNvSpPr/>
          <p:nvPr/>
        </p:nvSpPr>
        <p:spPr>
          <a:xfrm>
            <a:off x="3410640" y="342900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32"/>
          <p:cNvSpPr/>
          <p:nvPr/>
        </p:nvSpPr>
        <p:spPr>
          <a:xfrm>
            <a:off x="3410640" y="3429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3"/>
          <p:cNvSpPr/>
          <p:nvPr/>
        </p:nvSpPr>
        <p:spPr>
          <a:xfrm>
            <a:off x="3895200" y="338328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Flood de solicitudes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34"/>
          <p:cNvSpPr/>
          <p:nvPr/>
        </p:nvSpPr>
        <p:spPr>
          <a:xfrm>
            <a:off x="3410640" y="400500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WAF, rate limiting, autoscaling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35"/>
          <p:cNvSpPr/>
          <p:nvPr/>
        </p:nvSpPr>
        <p:spPr>
          <a:xfrm>
            <a:off x="6044040" y="3291840"/>
            <a:ext cx="2596680" cy="1234080"/>
          </a:xfrm>
          <a:prstGeom prst="roundRect">
            <a:avLst>
              <a:gd name="adj" fmla="val 5926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6"/>
          <p:cNvSpPr/>
          <p:nvPr/>
        </p:nvSpPr>
        <p:spPr>
          <a:xfrm>
            <a:off x="6181200" y="3429000"/>
            <a:ext cx="383760" cy="38376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37"/>
          <p:cNvSpPr/>
          <p:nvPr/>
        </p:nvSpPr>
        <p:spPr>
          <a:xfrm>
            <a:off x="6181200" y="3429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38"/>
          <p:cNvSpPr/>
          <p:nvPr/>
        </p:nvSpPr>
        <p:spPr>
          <a:xfrm>
            <a:off x="6666120" y="3383280"/>
            <a:ext cx="18374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Inyección SQL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9"/>
          <p:cNvSpPr/>
          <p:nvPr/>
        </p:nvSpPr>
        <p:spPr>
          <a:xfrm>
            <a:off x="6181200" y="4005000"/>
            <a:ext cx="232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Mitigar: </a:t>
            </a:r>
            <a:r>
              <a:rPr lang="en-US" sz="10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Consultas parametrizadas, least privilege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40"/>
          <p:cNvSpPr/>
          <p:nvPr/>
        </p:nvSpPr>
        <p:spPr>
          <a:xfrm>
            <a:off x="502920" y="4526280"/>
            <a:ext cx="8137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STRIDE aplicado al flujo Usuario → App web.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STRIDE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STRIDE por elemento y herramienta de apoyo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"/>
          <p:cNvSpPr/>
          <p:nvPr/>
        </p:nvSpPr>
        <p:spPr>
          <a:xfrm>
            <a:off x="502920" y="1371600"/>
            <a:ext cx="489168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STRIDE se aplica POR ELEMENTO del DFD: no todas las amenazas aplican a todos los elementos.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Ejemplo: spoofing aplica a entidades y procesos; tampering a flujos y almacenes de datos.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6314E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Salida esperada: lista de amenazas priorizada que alimenta el backlog — cada amenaza se gestiona como un riesgo (Bloque 3).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"/>
          <p:cNvSpPr/>
          <p:nvPr/>
        </p:nvSpPr>
        <p:spPr>
          <a:xfrm>
            <a:off x="5669280" y="1371600"/>
            <a:ext cx="2971440" cy="2651400"/>
          </a:xfrm>
          <a:prstGeom prst="roundRect">
            <a:avLst>
              <a:gd name="adj" fmla="val 3103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5897880" y="1600200"/>
            <a:ext cx="502560" cy="5025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preencoded.png"/>
          <p:cNvPicPr/>
          <p:nvPr/>
        </p:nvPicPr>
        <p:blipFill>
          <a:blip r:embed="rId1"/>
          <a:stretch/>
        </p:blipFill>
        <p:spPr>
          <a:xfrm>
            <a:off x="6008400" y="171072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5"/>
          <p:cNvSpPr/>
          <p:nvPr/>
        </p:nvSpPr>
        <p:spPr>
          <a:xfrm>
            <a:off x="5897880" y="2240280"/>
            <a:ext cx="2514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Microsoft Threat Modeling Tool</a:t>
            </a:r>
            <a:endParaRPr lang="es-CO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6"/>
          <p:cNvSpPr/>
          <p:nvPr/>
        </p:nvSpPr>
        <p:spPr>
          <a:xfrm>
            <a:off x="5897880" y="2853000"/>
            <a:ext cx="2514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1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Gratuita. Dibujas el DFD y genera amenazas STRIDE automáticamente.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Trabajo autónomo: explorarla antes de la próxima sesión.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502920" y="43434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A continuación: el mismo escenario, ahora con el proceso OWASP.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6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Ejemplo: Metodología OWASP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15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6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7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OWASP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El enfoque OWASP de threat modeling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"/>
          <p:cNvSpPr/>
          <p:nvPr/>
        </p:nvSpPr>
        <p:spPr>
          <a:xfrm>
            <a:off x="502920" y="1371600"/>
            <a:ext cx="81378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OWASP no impone una técnica única: promueve el marco de las 4 preguntas más los principios del Threat Modeling Manifesto.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6314E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Valores del manifiesto: hacerlo temprano, hacerlo continuo, colaborativo — y mejor hecho que perfecto.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502920" y="2743200"/>
            <a:ext cx="2596680" cy="182844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4"/>
          <p:cNvSpPr/>
          <p:nvPr/>
        </p:nvSpPr>
        <p:spPr>
          <a:xfrm>
            <a:off x="685800" y="292608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Image 0" descr="preencoded.png"/>
          <p:cNvPicPr/>
          <p:nvPr/>
        </p:nvPicPr>
        <p:blipFill>
          <a:blip r:embed="rId1"/>
          <a:stretch/>
        </p:blipFill>
        <p:spPr>
          <a:xfrm>
            <a:off x="786240" y="3026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Text 5"/>
          <p:cNvSpPr/>
          <p:nvPr/>
        </p:nvSpPr>
        <p:spPr>
          <a:xfrm>
            <a:off x="685800" y="3456360"/>
            <a:ext cx="2230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OWASP Threat Dragon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685800" y="3785760"/>
            <a:ext cx="223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Herramienta open source: diagramas DFD + registro de amenazas con estado.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7"/>
          <p:cNvSpPr/>
          <p:nvPr/>
        </p:nvSpPr>
        <p:spPr>
          <a:xfrm>
            <a:off x="3273480" y="2743200"/>
            <a:ext cx="2596680" cy="182844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8"/>
          <p:cNvSpPr/>
          <p:nvPr/>
        </p:nvSpPr>
        <p:spPr>
          <a:xfrm>
            <a:off x="3456360" y="292608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1" descr="preencoded.png"/>
          <p:cNvPicPr/>
          <p:nvPr/>
        </p:nvPicPr>
        <p:blipFill>
          <a:blip r:embed="rId2"/>
          <a:stretch/>
        </p:blipFill>
        <p:spPr>
          <a:xfrm>
            <a:off x="3557160" y="3026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9"/>
          <p:cNvSpPr/>
          <p:nvPr/>
        </p:nvSpPr>
        <p:spPr>
          <a:xfrm>
            <a:off x="3456360" y="3456360"/>
            <a:ext cx="2230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OWASP Top 10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0"/>
          <p:cNvSpPr/>
          <p:nvPr/>
        </p:nvSpPr>
        <p:spPr>
          <a:xfrm>
            <a:off x="3456360" y="3785760"/>
            <a:ext cx="223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Catálogo de las amenazas más frecuentes en aplicaciones web.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1"/>
          <p:cNvSpPr/>
          <p:nvPr/>
        </p:nvSpPr>
        <p:spPr>
          <a:xfrm>
            <a:off x="6044040" y="2743200"/>
            <a:ext cx="2596680" cy="1828440"/>
          </a:xfrm>
          <a:prstGeom prst="roundRect">
            <a:avLst>
              <a:gd name="adj" fmla="val 4500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2"/>
          <p:cNvSpPr/>
          <p:nvPr/>
        </p:nvSpPr>
        <p:spPr>
          <a:xfrm>
            <a:off x="6226920" y="292608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3" name="Image 2" descr="preencoded.png"/>
          <p:cNvPicPr/>
          <p:nvPr/>
        </p:nvPicPr>
        <p:blipFill>
          <a:blip r:embed="rId3"/>
          <a:stretch/>
        </p:blipFill>
        <p:spPr>
          <a:xfrm>
            <a:off x="6327720" y="3026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Text 13"/>
          <p:cNvSpPr/>
          <p:nvPr/>
        </p:nvSpPr>
        <p:spPr>
          <a:xfrm>
            <a:off x="6226920" y="3456360"/>
            <a:ext cx="2230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OWASP ASVS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4"/>
          <p:cNvSpPr/>
          <p:nvPr/>
        </p:nvSpPr>
        <p:spPr>
          <a:xfrm>
            <a:off x="6226920" y="3785760"/>
            <a:ext cx="223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Catálogo de controles de verificación para validar mitigaciones.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OWASP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Ejemplo guiado con Threat Dragon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02920" y="120708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Mismo escenario de pagos, ahora con el proceso OWASP: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02920" y="171900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502920" y="17190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1188720" y="1645920"/>
            <a:ext cx="745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Alcance.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Diagrama en Threat Dragon con trust boundaries: Internet ↔ App ↔ backend ↔ datos.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6"/>
          <p:cNvSpPr/>
          <p:nvPr/>
        </p:nvSpPr>
        <p:spPr>
          <a:xfrm>
            <a:off x="502920" y="247788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7"/>
          <p:cNvSpPr/>
          <p:nvPr/>
        </p:nvSpPr>
        <p:spPr>
          <a:xfrm>
            <a:off x="502920" y="2477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8"/>
          <p:cNvSpPr/>
          <p:nvPr/>
        </p:nvSpPr>
        <p:spPr>
          <a:xfrm>
            <a:off x="1188720" y="2404800"/>
            <a:ext cx="745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Identificación.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Por cada elemento se registran amenazas — soporta STRIDE, CIA o LINDDUN como taxonomía.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9"/>
          <p:cNvSpPr/>
          <p:nvPr/>
        </p:nvSpPr>
        <p:spPr>
          <a:xfrm>
            <a:off x="502920" y="323712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0"/>
          <p:cNvSpPr/>
          <p:nvPr/>
        </p:nvSpPr>
        <p:spPr>
          <a:xfrm>
            <a:off x="502920" y="32371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1"/>
          <p:cNvSpPr/>
          <p:nvPr/>
        </p:nvSpPr>
        <p:spPr>
          <a:xfrm>
            <a:off x="1188720" y="3163680"/>
            <a:ext cx="745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Priorización.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Severidad alta / media / baja por amenaza.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2"/>
          <p:cNvSpPr/>
          <p:nvPr/>
        </p:nvSpPr>
        <p:spPr>
          <a:xfrm>
            <a:off x="502920" y="3996000"/>
            <a:ext cx="475200" cy="47520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3"/>
          <p:cNvSpPr/>
          <p:nvPr/>
        </p:nvSpPr>
        <p:spPr>
          <a:xfrm>
            <a:off x="502920" y="39960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4"/>
          <p:cNvSpPr/>
          <p:nvPr/>
        </p:nvSpPr>
        <p:spPr>
          <a:xfrm>
            <a:off x="1188720" y="3922920"/>
            <a:ext cx="745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Mitigación.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Cada amenaza queda con estado (abierta / mitigada / aceptada): trazabilidad directa al backlog del equipo.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OWASP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Cruce con OWASP Top 10 (2021)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3" name="Table 0"/>
          <p:cNvGraphicFramePr/>
          <p:nvPr/>
        </p:nvGraphicFramePr>
        <p:xfrm>
          <a:off x="502920" y="1325880"/>
          <a:ext cx="8137800" cy="285264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Categoría Top 10</a:t>
                      </a:r>
                      <a:endParaRPr lang="es-CO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 nuestro ejemplo de pagos</a:t>
                      </a:r>
                      <a:endParaRPr lang="es-CO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A01 · Broken Access Control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Elevación de privilegios (la E de STRIDE)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A02 · Cryptographic Failures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Exposición de datos de tarjeta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A03 · Injection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Inyección SQL en la API de pagos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A05 · Security Misconfiguration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Blob público, contenedores mal configurados — ¡lo veremos en el lab con Defender for Cloud!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  <a:tr h="475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A07 · Identification &amp; Auth. Failures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E2F6F3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Spoofing de credenciales (la S de STRIDE)</a:t>
                      </a:r>
                      <a:endParaRPr lang="es-CO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44" name="Text 2"/>
          <p:cNvSpPr/>
          <p:nvPr/>
        </p:nvSpPr>
        <p:spPr>
          <a:xfrm>
            <a:off x="502920" y="43434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5A6478"/>
                </a:solidFill>
                <a:effectLst/>
                <a:uFillTx/>
                <a:latin typeface="Calibri"/>
                <a:ea typeface="Calibri"/>
              </a:rPr>
              <a:t>El Top 10 funciona como checklist de amenazas conocidas para complementar el modelo.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SÍNTESIS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STRIDE vs. OWASP: ¿cuál usar?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"/>
          <p:cNvSpPr/>
          <p:nvPr/>
        </p:nvSpPr>
        <p:spPr>
          <a:xfrm>
            <a:off x="502920" y="1325880"/>
            <a:ext cx="3949920" cy="2148480"/>
          </a:xfrm>
          <a:prstGeom prst="roundRect">
            <a:avLst>
              <a:gd name="adj" fmla="val 3830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3"/>
          <p:cNvSpPr/>
          <p:nvPr/>
        </p:nvSpPr>
        <p:spPr>
          <a:xfrm>
            <a:off x="704160" y="152712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9" name="Image 0" descr="preencoded.png"/>
          <p:cNvPicPr/>
          <p:nvPr/>
        </p:nvPicPr>
        <p:blipFill>
          <a:blip r:embed="rId1"/>
          <a:stretch/>
        </p:blipFill>
        <p:spPr>
          <a:xfrm>
            <a:off x="804600" y="16275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0" name="Text 4"/>
          <p:cNvSpPr/>
          <p:nvPr/>
        </p:nvSpPr>
        <p:spPr>
          <a:xfrm>
            <a:off x="1280160" y="148140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STRIDE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5"/>
          <p:cNvSpPr/>
          <p:nvPr/>
        </p:nvSpPr>
        <p:spPr>
          <a:xfrm>
            <a:off x="731520" y="2148840"/>
            <a:ext cx="34927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Taxonomía sistemática por elemento del DFD.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Excelente para no olvidar ninguna categoría de amenaza.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6"/>
          <p:cNvSpPr/>
          <p:nvPr/>
        </p:nvSpPr>
        <p:spPr>
          <a:xfrm>
            <a:off x="4690800" y="1325880"/>
            <a:ext cx="3949920" cy="2148480"/>
          </a:xfrm>
          <a:prstGeom prst="roundRect">
            <a:avLst>
              <a:gd name="adj" fmla="val 3830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7"/>
          <p:cNvSpPr/>
          <p:nvPr/>
        </p:nvSpPr>
        <p:spPr>
          <a:xfrm>
            <a:off x="4892040" y="1527120"/>
            <a:ext cx="456840" cy="456840"/>
          </a:xfrm>
          <a:prstGeom prst="ellipse">
            <a:avLst/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4" name="Image 1" descr="preencoded.png"/>
          <p:cNvPicPr/>
          <p:nvPr/>
        </p:nvPicPr>
        <p:blipFill>
          <a:blip r:embed="rId2"/>
          <a:stretch/>
        </p:blipFill>
        <p:spPr>
          <a:xfrm>
            <a:off x="4992480" y="16275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Text 8"/>
          <p:cNvSpPr/>
          <p:nvPr/>
        </p:nvSpPr>
        <p:spPr>
          <a:xfrm>
            <a:off x="5468040" y="1481400"/>
            <a:ext cx="2989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(4 preguntas + Threat Dragon + Top 10)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9"/>
          <p:cNvSpPr/>
          <p:nvPr/>
        </p:nvSpPr>
        <p:spPr>
          <a:xfrm>
            <a:off x="4919400" y="2148840"/>
            <a:ext cx="34927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Proceso ligero, colaborativo y continuo.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Excelente para equipos ágiles / DevSecOps.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0"/>
          <p:cNvSpPr/>
          <p:nvPr/>
        </p:nvSpPr>
        <p:spPr>
          <a:xfrm>
            <a:off x="502920" y="370332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En la práctica se combinan: </a:t>
            </a:r>
            <a:r>
              <a:rPr lang="en-US" sz="14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proceso OWASP con taxonomía STRIDE.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1"/>
          <p:cNvSpPr/>
          <p:nvPr/>
        </p:nvSpPr>
        <p:spPr>
          <a:xfrm>
            <a:off x="502920" y="4160520"/>
            <a:ext cx="8137800" cy="621360"/>
          </a:xfrm>
          <a:prstGeom prst="roundRect">
            <a:avLst>
              <a:gd name="adj" fmla="val 13235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12"/>
          <p:cNvSpPr/>
          <p:nvPr/>
        </p:nvSpPr>
        <p:spPr>
          <a:xfrm>
            <a:off x="731520" y="4160520"/>
            <a:ext cx="76806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Siguiente paso →  </a:t>
            </a:r>
            <a:r>
              <a:rPr lang="en-US" sz="12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 threat modeling dice qué puede salir mal; Zero Trust define la arquitectura que asume que algo saldrá mal.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BLOQUE 7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Zero Trust en Profundidad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30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6"/>
          <p:cNvSpPr/>
          <p:nvPr/>
        </p:nvSpPr>
        <p:spPr>
          <a:xfrm>
            <a:off x="2103120" y="324612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Antes de empezar: descanso de 10 minutos ☕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7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8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Del perímetro al Zero Trust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"/>
          <p:cNvSpPr/>
          <p:nvPr/>
        </p:nvSpPr>
        <p:spPr>
          <a:xfrm>
            <a:off x="502920" y="1325880"/>
            <a:ext cx="3949920" cy="2331360"/>
          </a:xfrm>
          <a:prstGeom prst="roundRect">
            <a:avLst>
              <a:gd name="adj" fmla="val 352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3"/>
          <p:cNvSpPr/>
          <p:nvPr/>
        </p:nvSpPr>
        <p:spPr>
          <a:xfrm>
            <a:off x="731520" y="1481400"/>
            <a:ext cx="349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Modelo tradicional: castillo y foso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4"/>
          <p:cNvSpPr/>
          <p:nvPr/>
        </p:nvSpPr>
        <p:spPr>
          <a:xfrm>
            <a:off x="731520" y="1920240"/>
            <a:ext cx="3492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Todo lo que está dentro de la red corporativa es confiable.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Ese modelo se rompió: trabajo remoto, nube híbrida, SaaS, dispositivos móviles, APIs.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0483C"/>
                </a:solidFill>
                <a:effectLst/>
                <a:uFillTx/>
                <a:latin typeface="Calibri"/>
                <a:ea typeface="Calibri"/>
              </a:rPr>
              <a:t>El perímetro ya no existe.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5"/>
          <p:cNvSpPr/>
          <p:nvPr/>
        </p:nvSpPr>
        <p:spPr>
          <a:xfrm>
            <a:off x="4690800" y="1325880"/>
            <a:ext cx="3949920" cy="2331360"/>
          </a:xfrm>
          <a:prstGeom prst="roundRect">
            <a:avLst>
              <a:gd name="adj" fmla="val 3529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6"/>
          <p:cNvSpPr/>
          <p:nvPr/>
        </p:nvSpPr>
        <p:spPr>
          <a:xfrm>
            <a:off x="4919400" y="1481400"/>
            <a:ext cx="3492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7"/>
          <p:cNvSpPr/>
          <p:nvPr/>
        </p:nvSpPr>
        <p:spPr>
          <a:xfrm>
            <a:off x="4919400" y="1920240"/>
            <a:ext cx="349272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“Never trust, always verify.”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Cada solicitud se verifica como si viniera de una red no controlada, sin importar su origen.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8"/>
          <p:cNvSpPr/>
          <p:nvPr/>
        </p:nvSpPr>
        <p:spPr>
          <a:xfrm>
            <a:off x="502920" y="3977640"/>
            <a:ext cx="813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Zero Trust es una estrategia, no un producto que se compra.</a:t>
            </a:r>
            <a:endParaRPr lang="es-C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Los tres principios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"/>
          <p:cNvSpPr/>
          <p:nvPr/>
        </p:nvSpPr>
        <p:spPr>
          <a:xfrm>
            <a:off x="502920" y="1371600"/>
            <a:ext cx="2596680" cy="310860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"/>
          <p:cNvSpPr/>
          <p:nvPr/>
        </p:nvSpPr>
        <p:spPr>
          <a:xfrm>
            <a:off x="1472040" y="1627560"/>
            <a:ext cx="658080" cy="6580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2" name="Image 0" descr="preencoded.png"/>
          <p:cNvPicPr/>
          <p:nvPr/>
        </p:nvPicPr>
        <p:blipFill>
          <a:blip r:embed="rId1"/>
          <a:stretch/>
        </p:blipFill>
        <p:spPr>
          <a:xfrm>
            <a:off x="1636920" y="1792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Text 4"/>
          <p:cNvSpPr/>
          <p:nvPr/>
        </p:nvSpPr>
        <p:spPr>
          <a:xfrm>
            <a:off x="640080" y="2395800"/>
            <a:ext cx="232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1. Verificar explícitamente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5"/>
          <p:cNvSpPr/>
          <p:nvPr/>
        </p:nvSpPr>
        <p:spPr>
          <a:xfrm>
            <a:off x="704160" y="2834640"/>
            <a:ext cx="21942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Autenticar y autorizar siempre con base en todos los datos disponibles: identidad, ubicación, salud del dispositivo, clasificación del dato, anomalías.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6"/>
          <p:cNvSpPr/>
          <p:nvPr/>
        </p:nvSpPr>
        <p:spPr>
          <a:xfrm>
            <a:off x="3273480" y="1371600"/>
            <a:ext cx="2596680" cy="310860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7"/>
          <p:cNvSpPr/>
          <p:nvPr/>
        </p:nvSpPr>
        <p:spPr>
          <a:xfrm>
            <a:off x="4242960" y="1627560"/>
            <a:ext cx="658080" cy="6580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7" name="Image 1" descr="preencoded.png"/>
          <p:cNvPicPr/>
          <p:nvPr/>
        </p:nvPicPr>
        <p:blipFill>
          <a:blip r:embed="rId2"/>
          <a:stretch/>
        </p:blipFill>
        <p:spPr>
          <a:xfrm>
            <a:off x="4407480" y="1792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Text 8"/>
          <p:cNvSpPr/>
          <p:nvPr/>
        </p:nvSpPr>
        <p:spPr>
          <a:xfrm>
            <a:off x="3410640" y="2395800"/>
            <a:ext cx="232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2. Menor privilegio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9"/>
          <p:cNvSpPr/>
          <p:nvPr/>
        </p:nvSpPr>
        <p:spPr>
          <a:xfrm>
            <a:off x="3474720" y="2834640"/>
            <a:ext cx="21942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Limitar el acceso con Just-In-Time y Just-Enough-Access (JIT/JEA) y políticas adaptativas basadas en riesgo.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0"/>
          <p:cNvSpPr/>
          <p:nvPr/>
        </p:nvSpPr>
        <p:spPr>
          <a:xfrm>
            <a:off x="6044040" y="1371600"/>
            <a:ext cx="2596680" cy="3108600"/>
          </a:xfrm>
          <a:prstGeom prst="roundRect">
            <a:avLst>
              <a:gd name="adj" fmla="val 3169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1"/>
          <p:cNvSpPr/>
          <p:nvPr/>
        </p:nvSpPr>
        <p:spPr>
          <a:xfrm>
            <a:off x="7013520" y="1627560"/>
            <a:ext cx="658080" cy="65808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2" descr="preencoded.png"/>
          <p:cNvPicPr/>
          <p:nvPr/>
        </p:nvPicPr>
        <p:blipFill>
          <a:blip r:embed="rId3"/>
          <a:stretch/>
        </p:blipFill>
        <p:spPr>
          <a:xfrm>
            <a:off x="7178040" y="1792080"/>
            <a:ext cx="328680" cy="32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12"/>
          <p:cNvSpPr/>
          <p:nvPr/>
        </p:nvSpPr>
        <p:spPr>
          <a:xfrm>
            <a:off x="6181200" y="2395800"/>
            <a:ext cx="232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3. Asumir la brecha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13"/>
          <p:cNvSpPr/>
          <p:nvPr/>
        </p:nvSpPr>
        <p:spPr>
          <a:xfrm>
            <a:off x="6245280" y="2834640"/>
            <a:ext cx="219420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Minimizar el radio de impacto (blast radius), segmentar accesos, cifrar extremo a extremo y usar analítica para detectar y mejorar.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Los seis pilares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2"/>
          <p:cNvSpPr/>
          <p:nvPr/>
        </p:nvSpPr>
        <p:spPr>
          <a:xfrm>
            <a:off x="502920" y="129852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E2F6F3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3"/>
          <p:cNvSpPr/>
          <p:nvPr/>
        </p:nvSpPr>
        <p:spPr>
          <a:xfrm>
            <a:off x="649080" y="143568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Image 0" descr="preencoded.png"/>
          <p:cNvPicPr/>
          <p:nvPr/>
        </p:nvPicPr>
        <p:blipFill>
          <a:blip r:embed="rId1"/>
          <a:stretch/>
        </p:blipFill>
        <p:spPr>
          <a:xfrm>
            <a:off x="741600" y="152820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Text 4"/>
          <p:cNvSpPr/>
          <p:nvPr/>
        </p:nvSpPr>
        <p:spPr>
          <a:xfrm>
            <a:off x="1143000" y="143568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Identidades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"/>
          <p:cNvSpPr/>
          <p:nvPr/>
        </p:nvSpPr>
        <p:spPr>
          <a:xfrm>
            <a:off x="649080" y="191124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El nuevo plano de control: MFA, acceso condicional. Toda decisión de acceso empieza aquí.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6"/>
          <p:cNvSpPr/>
          <p:nvPr/>
        </p:nvSpPr>
        <p:spPr>
          <a:xfrm>
            <a:off x="3273480" y="129852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7"/>
          <p:cNvSpPr/>
          <p:nvPr/>
        </p:nvSpPr>
        <p:spPr>
          <a:xfrm>
            <a:off x="3420000" y="143568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Image 1" descr="preencoded.png"/>
          <p:cNvPicPr/>
          <p:nvPr/>
        </p:nvPicPr>
        <p:blipFill>
          <a:blip r:embed="rId2"/>
          <a:stretch/>
        </p:blipFill>
        <p:spPr>
          <a:xfrm>
            <a:off x="3512520" y="152820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8"/>
          <p:cNvSpPr/>
          <p:nvPr/>
        </p:nvSpPr>
        <p:spPr>
          <a:xfrm>
            <a:off x="3913560" y="143568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Dispositivos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9"/>
          <p:cNvSpPr/>
          <p:nvPr/>
        </p:nvSpPr>
        <p:spPr>
          <a:xfrm>
            <a:off x="3420000" y="191124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Salud y cumplimiento del dispositivo como condición de acceso.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10"/>
          <p:cNvSpPr/>
          <p:nvPr/>
        </p:nvSpPr>
        <p:spPr>
          <a:xfrm>
            <a:off x="6044040" y="129852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1"/>
          <p:cNvSpPr/>
          <p:nvPr/>
        </p:nvSpPr>
        <p:spPr>
          <a:xfrm>
            <a:off x="6190560" y="143568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9" name="Image 2" descr="preencoded.png"/>
          <p:cNvPicPr/>
          <p:nvPr/>
        </p:nvPicPr>
        <p:blipFill>
          <a:blip r:embed="rId3"/>
          <a:stretch/>
        </p:blipFill>
        <p:spPr>
          <a:xfrm>
            <a:off x="6283080" y="152820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Text 12"/>
          <p:cNvSpPr/>
          <p:nvPr/>
        </p:nvSpPr>
        <p:spPr>
          <a:xfrm>
            <a:off x="6684120" y="143568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Aplicaciones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3"/>
          <p:cNvSpPr/>
          <p:nvPr/>
        </p:nvSpPr>
        <p:spPr>
          <a:xfrm>
            <a:off x="6190560" y="191124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Visibilidad de shadow IT, permisos apropiados, monitoreo de anomalías.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4"/>
          <p:cNvSpPr/>
          <p:nvPr/>
        </p:nvSpPr>
        <p:spPr>
          <a:xfrm>
            <a:off x="502920" y="307224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5"/>
          <p:cNvSpPr/>
          <p:nvPr/>
        </p:nvSpPr>
        <p:spPr>
          <a:xfrm>
            <a:off x="649080" y="320940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4" name="Image 3" descr="preencoded.png"/>
          <p:cNvPicPr/>
          <p:nvPr/>
        </p:nvPicPr>
        <p:blipFill>
          <a:blip r:embed="rId4"/>
          <a:stretch/>
        </p:blipFill>
        <p:spPr>
          <a:xfrm>
            <a:off x="741600" y="330192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 16"/>
          <p:cNvSpPr/>
          <p:nvPr/>
        </p:nvSpPr>
        <p:spPr>
          <a:xfrm>
            <a:off x="1143000" y="320940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Datos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7"/>
          <p:cNvSpPr/>
          <p:nvPr/>
        </p:nvSpPr>
        <p:spPr>
          <a:xfrm>
            <a:off x="649080" y="368496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Clasificar, etiquetar, cifrar: la protección viaja con el dato, no con la red.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18"/>
          <p:cNvSpPr/>
          <p:nvPr/>
        </p:nvSpPr>
        <p:spPr>
          <a:xfrm>
            <a:off x="3273480" y="307224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19"/>
          <p:cNvSpPr/>
          <p:nvPr/>
        </p:nvSpPr>
        <p:spPr>
          <a:xfrm>
            <a:off x="3420000" y="320940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9" name="Image 4" descr="preencoded.png"/>
          <p:cNvPicPr/>
          <p:nvPr/>
        </p:nvPicPr>
        <p:blipFill>
          <a:blip r:embed="rId5"/>
          <a:stretch/>
        </p:blipFill>
        <p:spPr>
          <a:xfrm>
            <a:off x="3512520" y="330192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Text 20"/>
          <p:cNvSpPr/>
          <p:nvPr/>
        </p:nvSpPr>
        <p:spPr>
          <a:xfrm>
            <a:off x="3913560" y="320940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Infraestructura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21"/>
          <p:cNvSpPr/>
          <p:nvPr/>
        </p:nvSpPr>
        <p:spPr>
          <a:xfrm>
            <a:off x="3420000" y="368496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Hardening, configuración como código, detección de drift, JIT sobre recursos.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22"/>
          <p:cNvSpPr/>
          <p:nvPr/>
        </p:nvSpPr>
        <p:spPr>
          <a:xfrm>
            <a:off x="6044040" y="3072240"/>
            <a:ext cx="2596680" cy="1572480"/>
          </a:xfrm>
          <a:prstGeom prst="roundRect">
            <a:avLst>
              <a:gd name="adj" fmla="val 5233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23"/>
          <p:cNvSpPr/>
          <p:nvPr/>
        </p:nvSpPr>
        <p:spPr>
          <a:xfrm>
            <a:off x="6190560" y="3209400"/>
            <a:ext cx="420120" cy="4201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4" name="Image 5" descr="preencoded.png"/>
          <p:cNvPicPr/>
          <p:nvPr/>
        </p:nvPicPr>
        <p:blipFill>
          <a:blip r:embed="rId6"/>
          <a:stretch/>
        </p:blipFill>
        <p:spPr>
          <a:xfrm>
            <a:off x="6283080" y="3301920"/>
            <a:ext cx="235080" cy="23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Text 24"/>
          <p:cNvSpPr/>
          <p:nvPr/>
        </p:nvSpPr>
        <p:spPr>
          <a:xfrm>
            <a:off x="6684120" y="3209400"/>
            <a:ext cx="18194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Redes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5"/>
          <p:cNvSpPr/>
          <p:nvPr/>
        </p:nvSpPr>
        <p:spPr>
          <a:xfrm>
            <a:off x="6190560" y="3684960"/>
            <a:ext cx="230400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Microsegmentación, cifrado del tráfico, prevención de movimiento lateral.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Arquitectura: el motor de política en el centro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"/>
          <p:cNvSpPr/>
          <p:nvPr/>
        </p:nvSpPr>
        <p:spPr>
          <a:xfrm>
            <a:off x="502920" y="1371600"/>
            <a:ext cx="4023000" cy="840960"/>
          </a:xfrm>
          <a:prstGeom prst="roundRect">
            <a:avLst>
              <a:gd name="adj" fmla="val 9783"/>
            </a:avLst>
          </a:prstGeom>
          <a:solidFill>
            <a:srgbClr val="E4EEFB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3"/>
          <p:cNvSpPr/>
          <p:nvPr/>
        </p:nvSpPr>
        <p:spPr>
          <a:xfrm>
            <a:off x="685800" y="1444680"/>
            <a:ext cx="3657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Señales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Identidad · dispositivo · ubicación · riesgo · clasificación del dato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4"/>
          <p:cNvSpPr/>
          <p:nvPr/>
        </p:nvSpPr>
        <p:spPr>
          <a:xfrm>
            <a:off x="2514600" y="2212560"/>
            <a:ext cx="360" cy="237960"/>
          </a:xfrm>
          <a:prstGeom prst="line">
            <a:avLst/>
          </a:prstGeom>
          <a:ln w="25400">
            <a:solidFill>
              <a:srgbClr val="5A64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5"/>
          <p:cNvSpPr/>
          <p:nvPr/>
        </p:nvSpPr>
        <p:spPr>
          <a:xfrm>
            <a:off x="502920" y="2450520"/>
            <a:ext cx="4023000" cy="840960"/>
          </a:xfrm>
          <a:prstGeom prst="roundRect">
            <a:avLst>
              <a:gd name="adj" fmla="val 9783"/>
            </a:avLst>
          </a:prstGeom>
          <a:solidFill>
            <a:srgbClr val="1E2761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6"/>
          <p:cNvSpPr/>
          <p:nvPr/>
        </p:nvSpPr>
        <p:spPr>
          <a:xfrm>
            <a:off x="685800" y="2523600"/>
            <a:ext cx="3657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Motor de política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Evalúa CADA solicitud  ·  en Microsoft: Entra ID + Conditional Access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7"/>
          <p:cNvSpPr/>
          <p:nvPr/>
        </p:nvSpPr>
        <p:spPr>
          <a:xfrm>
            <a:off x="2514600" y="3291840"/>
            <a:ext cx="360" cy="237600"/>
          </a:xfrm>
          <a:prstGeom prst="line">
            <a:avLst/>
          </a:prstGeom>
          <a:ln w="25400">
            <a:solidFill>
              <a:srgbClr val="5A64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8"/>
          <p:cNvSpPr/>
          <p:nvPr/>
        </p:nvSpPr>
        <p:spPr>
          <a:xfrm>
            <a:off x="502920" y="3529440"/>
            <a:ext cx="4023000" cy="840960"/>
          </a:xfrm>
          <a:prstGeom prst="roundRect">
            <a:avLst>
              <a:gd name="adj" fmla="val 9783"/>
            </a:avLst>
          </a:prstGeom>
          <a:solidFill>
            <a:srgbClr val="E2F6F3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9"/>
          <p:cNvSpPr/>
          <p:nvPr/>
        </p:nvSpPr>
        <p:spPr>
          <a:xfrm>
            <a:off x="685800" y="3602880"/>
            <a:ext cx="3657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Recursos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Aplicaciones · datos · infraestructura · red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10"/>
          <p:cNvSpPr/>
          <p:nvPr/>
        </p:nvSpPr>
        <p:spPr>
          <a:xfrm>
            <a:off x="4892040" y="1417320"/>
            <a:ext cx="374868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La decisión de acceso deja de ser “estás en la red corporativa” y pasa a ser una evaluación dinámica por solicitud.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26314E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Los seis pilares alimentan señales y reciben políticas.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6314E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Capa transversal: protección contra amenazas e inteligencia (Defender XDR / Defender for Cloud) que monitorea, detecta y remedia.</a:t>
            </a:r>
            <a:endParaRPr lang="es-CO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 · PROFUNDIZACIÓN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Identidades: el perímetro moderno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2"/>
          <p:cNvSpPr/>
          <p:nvPr/>
        </p:nvSpPr>
        <p:spPr>
          <a:xfrm>
            <a:off x="502920" y="140832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Image 0" descr="preencoded.png"/>
          <p:cNvPicPr/>
          <p:nvPr/>
        </p:nvPicPr>
        <p:blipFill>
          <a:blip r:embed="rId1"/>
          <a:stretch/>
        </p:blipFill>
        <p:spPr>
          <a:xfrm>
            <a:off x="591480" y="14965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 3"/>
          <p:cNvSpPr/>
          <p:nvPr/>
        </p:nvSpPr>
        <p:spPr>
          <a:xfrm>
            <a:off x="1069920" y="1298520"/>
            <a:ext cx="7570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Todo tiene identidad.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Usuarios, servicios, aplicaciones y máquinas: la identidad es el nuevo perímetro.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502920" y="20664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preencoded.png"/>
          <p:cNvPicPr/>
          <p:nvPr/>
        </p:nvPicPr>
        <p:blipFill>
          <a:blip r:embed="rId2"/>
          <a:stretch/>
        </p:blipFill>
        <p:spPr>
          <a:xfrm>
            <a:off x="591480" y="2154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069920" y="1956960"/>
            <a:ext cx="7570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MFA resistente a phishing + acceso condicional.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Políticas basadas en riesgo que evalúan cada inicio de sesión.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02920" y="27248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7" name="Image 2" descr="preencoded.png"/>
          <p:cNvPicPr/>
          <p:nvPr/>
        </p:nvPicPr>
        <p:blipFill>
          <a:blip r:embed="rId3"/>
          <a:stretch/>
        </p:blipFill>
        <p:spPr>
          <a:xfrm>
            <a:off x="591480" y="28134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 7"/>
          <p:cNvSpPr/>
          <p:nvPr/>
        </p:nvSpPr>
        <p:spPr>
          <a:xfrm>
            <a:off x="1069920" y="2615040"/>
            <a:ext cx="7570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PIM: privilegios Just-In-Time.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Los roles administrativos se activan solo cuando se necesitan y por tiempo limitado.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8"/>
          <p:cNvSpPr/>
          <p:nvPr/>
        </p:nvSpPr>
        <p:spPr>
          <a:xfrm>
            <a:off x="502920" y="338328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3" descr="preencoded.png"/>
          <p:cNvPicPr/>
          <p:nvPr/>
        </p:nvPicPr>
        <p:blipFill>
          <a:blip r:embed="rId4"/>
          <a:stretch/>
        </p:blipFill>
        <p:spPr>
          <a:xfrm>
            <a:off x="591480" y="34718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9"/>
          <p:cNvSpPr/>
          <p:nvPr/>
        </p:nvSpPr>
        <p:spPr>
          <a:xfrm>
            <a:off x="1069920" y="3273480"/>
            <a:ext cx="7570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Revisiones de acceso periódicas.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Detectar y retirar permisos que ya no corresponden al rol actual.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0"/>
          <p:cNvSpPr/>
          <p:nvPr/>
        </p:nvSpPr>
        <p:spPr>
          <a:xfrm>
            <a:off x="502920" y="404172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4" descr="preencoded.png"/>
          <p:cNvPicPr/>
          <p:nvPr/>
        </p:nvPicPr>
        <p:blipFill>
          <a:blip r:embed="rId5"/>
          <a:stretch/>
        </p:blipFill>
        <p:spPr>
          <a:xfrm>
            <a:off x="591480" y="413028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Text 11"/>
          <p:cNvSpPr/>
          <p:nvPr/>
        </p:nvSpPr>
        <p:spPr>
          <a:xfrm>
            <a:off x="1069920" y="3931920"/>
            <a:ext cx="7570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Identidades de cargas de trabajo.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Las aplicaciones no deben usar contraseñas embebidas → managed identities (¡lo haremos en el lab!).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 · PROFUNDIZACIÓN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Red y cargas de trabajo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2"/>
          <p:cNvSpPr/>
          <p:nvPr/>
        </p:nvSpPr>
        <p:spPr>
          <a:xfrm>
            <a:off x="502920" y="155448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8" name="Image 0" descr="preencoded.png"/>
          <p:cNvPicPr/>
          <p:nvPr/>
        </p:nvPicPr>
        <p:blipFill>
          <a:blip r:embed="rId1"/>
          <a:stretch/>
        </p:blipFill>
        <p:spPr>
          <a:xfrm>
            <a:off x="591480" y="16430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3"/>
          <p:cNvSpPr/>
          <p:nvPr/>
        </p:nvSpPr>
        <p:spPr>
          <a:xfrm>
            <a:off x="1069920" y="1371600"/>
            <a:ext cx="757080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Microsegmentación y micro-perímetros. </a:t>
            </a: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NSGs, Azure Firewall, private endpoints — deny-by-default.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4"/>
          <p:cNvSpPr/>
          <p:nvPr/>
        </p:nvSpPr>
        <p:spPr>
          <a:xfrm>
            <a:off x="502920" y="235908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Image 1" descr="preencoded.png"/>
          <p:cNvPicPr/>
          <p:nvPr/>
        </p:nvPicPr>
        <p:blipFill>
          <a:blip r:embed="rId2"/>
          <a:stretch/>
        </p:blipFill>
        <p:spPr>
          <a:xfrm>
            <a:off x="591480" y="24476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2" name="Text 5"/>
          <p:cNvSpPr/>
          <p:nvPr/>
        </p:nvSpPr>
        <p:spPr>
          <a:xfrm>
            <a:off x="1069920" y="2176200"/>
            <a:ext cx="757080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Cifrado extremo a extremo. </a:t>
            </a: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TLS en todo el tráfico; VPN / ExpressRoute con cifrado para híbrido.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6"/>
          <p:cNvSpPr/>
          <p:nvPr/>
        </p:nvSpPr>
        <p:spPr>
          <a:xfrm>
            <a:off x="502920" y="316368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Image 2" descr="preencoded.png"/>
          <p:cNvPicPr/>
          <p:nvPr/>
        </p:nvPicPr>
        <p:blipFill>
          <a:blip r:embed="rId3"/>
          <a:stretch/>
        </p:blipFill>
        <p:spPr>
          <a:xfrm>
            <a:off x="591480" y="32522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Text 7"/>
          <p:cNvSpPr/>
          <p:nvPr/>
        </p:nvSpPr>
        <p:spPr>
          <a:xfrm>
            <a:off x="1069920" y="2980800"/>
            <a:ext cx="757080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Contener el movimiento lateral. </a:t>
            </a: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Si un pod o VM cae, la brecha queda contenida (recuerden los riesgos de contenedores del curso).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8"/>
          <p:cNvSpPr/>
          <p:nvPr/>
        </p:nvSpPr>
        <p:spPr>
          <a:xfrm>
            <a:off x="502920" y="39686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Image 3" descr="preencoded.png"/>
          <p:cNvPicPr/>
          <p:nvPr/>
        </p:nvPicPr>
        <p:blipFill>
          <a:blip r:embed="rId4"/>
          <a:stretch/>
        </p:blipFill>
        <p:spPr>
          <a:xfrm>
            <a:off x="591480" y="405684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Text 9"/>
          <p:cNvSpPr/>
          <p:nvPr/>
        </p:nvSpPr>
        <p:spPr>
          <a:xfrm>
            <a:off x="1069920" y="3785760"/>
            <a:ext cx="757080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Visibilidad continua. </a:t>
            </a:r>
            <a:r>
              <a:rPr lang="en-US" sz="135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Logging, detección de anomalías, SIEM: no se puede proteger lo que no se ve.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Un camino incremental, no un switch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2"/>
          <p:cNvSpPr/>
          <p:nvPr/>
        </p:nvSpPr>
        <p:spPr>
          <a:xfrm>
            <a:off x="502920" y="1417320"/>
            <a:ext cx="1846800" cy="868320"/>
          </a:xfrm>
          <a:prstGeom prst="roundRect">
            <a:avLst>
              <a:gd name="adj" fmla="val 9474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3"/>
          <p:cNvSpPr/>
          <p:nvPr/>
        </p:nvSpPr>
        <p:spPr>
          <a:xfrm>
            <a:off x="594360" y="1417320"/>
            <a:ext cx="1663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Evaluar estado actual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0" descr="preencoded.png"/>
          <p:cNvPicPr/>
          <p:nvPr/>
        </p:nvPicPr>
        <p:blipFill>
          <a:blip r:embed="rId1"/>
          <a:stretch/>
        </p:blipFill>
        <p:spPr>
          <a:xfrm>
            <a:off x="2391120" y="176472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Shape 4"/>
          <p:cNvSpPr/>
          <p:nvPr/>
        </p:nvSpPr>
        <p:spPr>
          <a:xfrm>
            <a:off x="2606040" y="1417320"/>
            <a:ext cx="1846800" cy="868320"/>
          </a:xfrm>
          <a:prstGeom prst="roundRect">
            <a:avLst>
              <a:gd name="adj" fmla="val 9474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5"/>
          <p:cNvSpPr/>
          <p:nvPr/>
        </p:nvSpPr>
        <p:spPr>
          <a:xfrm>
            <a:off x="2697480" y="1417320"/>
            <a:ext cx="1663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Priorizar por riesgo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6" name="Image 1" descr="preencoded.png"/>
          <p:cNvPicPr/>
          <p:nvPr/>
        </p:nvPicPr>
        <p:blipFill>
          <a:blip r:embed="rId2"/>
          <a:stretch/>
        </p:blipFill>
        <p:spPr>
          <a:xfrm>
            <a:off x="4494240" y="176472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Shape 6"/>
          <p:cNvSpPr/>
          <p:nvPr/>
        </p:nvSpPr>
        <p:spPr>
          <a:xfrm>
            <a:off x="4709160" y="1417320"/>
            <a:ext cx="1846800" cy="868320"/>
          </a:xfrm>
          <a:prstGeom prst="roundRect">
            <a:avLst>
              <a:gd name="adj" fmla="val 9474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7"/>
          <p:cNvSpPr/>
          <p:nvPr/>
        </p:nvSpPr>
        <p:spPr>
          <a:xfrm>
            <a:off x="4800600" y="1417320"/>
            <a:ext cx="1663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Implementar por pilar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Image 2" descr="preencoded.png"/>
          <p:cNvPicPr/>
          <p:nvPr/>
        </p:nvPicPr>
        <p:blipFill>
          <a:blip r:embed="rId3"/>
          <a:stretch/>
        </p:blipFill>
        <p:spPr>
          <a:xfrm>
            <a:off x="6597360" y="176472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Shape 8"/>
          <p:cNvSpPr/>
          <p:nvPr/>
        </p:nvSpPr>
        <p:spPr>
          <a:xfrm>
            <a:off x="6812280" y="1417320"/>
            <a:ext cx="1846800" cy="868320"/>
          </a:xfrm>
          <a:prstGeom prst="roundRect">
            <a:avLst>
              <a:gd name="adj" fmla="val 9474"/>
            </a:avLst>
          </a:prstGeom>
          <a:solidFill>
            <a:srgbClr val="F3F6FC"/>
          </a:solidFill>
          <a:ln w="0">
            <a:noFill/>
          </a:ln>
          <a:effectLst>
            <a:outerShdw algn="bl" blurRad="88920" dir="2700000" dist="25455" kx="0" ky="0" rotWithShape="0" sx="100000" sy="100000">
              <a:srgbClr val="1E2761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9"/>
          <p:cNvSpPr/>
          <p:nvPr/>
        </p:nvSpPr>
        <p:spPr>
          <a:xfrm>
            <a:off x="6903720" y="1417320"/>
            <a:ext cx="16639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Medir y repetir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10"/>
          <p:cNvSpPr/>
          <p:nvPr/>
        </p:nvSpPr>
        <p:spPr>
          <a:xfrm>
            <a:off x="502920" y="2606040"/>
            <a:ext cx="8137800" cy="639720"/>
          </a:xfrm>
          <a:prstGeom prst="roundRect">
            <a:avLst>
              <a:gd name="adj" fmla="val 12857"/>
            </a:avLst>
          </a:prstGeom>
          <a:solidFill>
            <a:srgbClr val="E2F6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1"/>
          <p:cNvSpPr/>
          <p:nvPr/>
        </p:nvSpPr>
        <p:spPr>
          <a:xfrm>
            <a:off x="731520" y="2606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Punto de partida recomendado: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identidades (MFA + Conditional Access) — la mayor reducción de riesgo por esfuerzo invertido.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2"/>
          <p:cNvSpPr/>
          <p:nvPr/>
        </p:nvSpPr>
        <p:spPr>
          <a:xfrm>
            <a:off x="502920" y="347472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Cierre del hilo conductor: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13"/>
          <p:cNvSpPr/>
          <p:nvPr/>
        </p:nvSpPr>
        <p:spPr>
          <a:xfrm>
            <a:off x="502920" y="3840480"/>
            <a:ext cx="2596680" cy="77688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4"/>
          <p:cNvSpPr/>
          <p:nvPr/>
        </p:nvSpPr>
        <p:spPr>
          <a:xfrm>
            <a:off x="594360" y="3840480"/>
            <a:ext cx="241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Responsabilidad compartida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QUÉ proteges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5"/>
          <p:cNvSpPr/>
          <p:nvPr/>
        </p:nvSpPr>
        <p:spPr>
          <a:xfrm>
            <a:off x="3273480" y="3840480"/>
            <a:ext cx="2596680" cy="77688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6"/>
          <p:cNvSpPr/>
          <p:nvPr/>
        </p:nvSpPr>
        <p:spPr>
          <a:xfrm>
            <a:off x="3364920" y="3840480"/>
            <a:ext cx="241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Riesgos + Threat Modeling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CONTRA QUÉ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17"/>
          <p:cNvSpPr/>
          <p:nvPr/>
        </p:nvSpPr>
        <p:spPr>
          <a:xfrm>
            <a:off x="6044040" y="3840480"/>
            <a:ext cx="2596680" cy="77688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8"/>
          <p:cNvSpPr/>
          <p:nvPr/>
        </p:nvSpPr>
        <p:spPr>
          <a:xfrm>
            <a:off x="6135480" y="3840480"/>
            <a:ext cx="241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Zero Trust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CÓMO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Shape 0"/>
          <p:cNvSpPr/>
          <p:nvPr/>
        </p:nvSpPr>
        <p:spPr>
          <a:xfrm>
            <a:off x="6492240" y="-1463040"/>
            <a:ext cx="4205880" cy="420588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1"/>
          <p:cNvSpPr/>
          <p:nvPr/>
        </p:nvSpPr>
        <p:spPr>
          <a:xfrm>
            <a:off x="-1280160" y="3566160"/>
            <a:ext cx="3291480" cy="3291480"/>
          </a:xfrm>
          <a:prstGeom prst="ellipse">
            <a:avLst/>
          </a:prstGeom>
          <a:solidFill>
            <a:srgbClr val="2EC4B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2"/>
          <p:cNvSpPr/>
          <p:nvPr/>
        </p:nvSpPr>
        <p:spPr>
          <a:xfrm>
            <a:off x="502920" y="123444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LABORATORIO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3"/>
          <p:cNvSpPr/>
          <p:nvPr/>
        </p:nvSpPr>
        <p:spPr>
          <a:xfrm>
            <a:off x="502920" y="1600200"/>
            <a:ext cx="6309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Manos a la obra en Azure</a:t>
            </a:r>
            <a:endParaRPr lang="es-CO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4"/>
          <p:cNvSpPr/>
          <p:nvPr/>
        </p:nvSpPr>
        <p:spPr>
          <a:xfrm>
            <a:off x="502920" y="3246120"/>
            <a:ext cx="1416960" cy="411120"/>
          </a:xfrm>
          <a:prstGeom prst="roundRect">
            <a:avLst>
              <a:gd name="adj" fmla="val 48889"/>
            </a:avLst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5"/>
          <p:cNvSpPr/>
          <p:nvPr/>
        </p:nvSpPr>
        <p:spPr>
          <a:xfrm>
            <a:off x="502920" y="3246120"/>
            <a:ext cx="1416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90 min</a:t>
            </a:r>
            <a:endParaRPr lang="es-CO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6"/>
          <p:cNvSpPr/>
          <p:nvPr/>
        </p:nvSpPr>
        <p:spPr>
          <a:xfrm>
            <a:off x="2103120" y="324612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Requisitos: suscripción Azure (Owner) · Defender for Cloud plan gratuito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7"/>
          <p:cNvSpPr/>
          <p:nvPr/>
        </p:nvSpPr>
        <p:spPr>
          <a:xfrm>
            <a:off x="6903720" y="1691640"/>
            <a:ext cx="1554120" cy="1554120"/>
          </a:xfrm>
          <a:prstGeom prst="ellipse">
            <a:avLst/>
          </a:prstGeom>
          <a:solidFill>
            <a:srgbClr val="2EC4B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9" name="Image 0" descr="preencoded.png"/>
          <p:cNvPicPr/>
          <p:nvPr/>
        </p:nvPicPr>
        <p:blipFill>
          <a:blip r:embed="rId1"/>
          <a:stretch/>
        </p:blipFill>
        <p:spPr>
          <a:xfrm>
            <a:off x="7296840" y="2084760"/>
            <a:ext cx="767880" cy="76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PUENTE AL LABORATORIO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De la teoría a la práctica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2" name="Table 0"/>
          <p:cNvGraphicFramePr/>
          <p:nvPr/>
        </p:nvGraphicFramePr>
        <p:xfrm>
          <a:off x="502920" y="1325880"/>
          <a:ext cx="8137800" cy="3071880"/>
        </p:xfrm>
        <a:graphic>
          <a:graphicData uri="http://schemas.openxmlformats.org/drawingml/2006/table">
            <a:tbl>
              <a:tblPr/>
              <a:tblGrid>
                <a:gridCol w="3794760"/>
                <a:gridCol w="4343400"/>
              </a:tblGrid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Concepto de la teoría</a:t>
                      </a:r>
                      <a:endParaRPr lang="es-CO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Práctica en el laboratorio</a:t>
                      </a:r>
                      <a:endParaRPr lang="es-CO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1E2761"/>
                    </a:solidFill>
                  </a:tcPr>
                </a:tc>
              </a:tr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Identidad como plano de control (Zero Trust)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Manejo de identidades: </a:t>
                      </a: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usuarios y grupos en Microsoft Entra ID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BF9"/>
                    </a:solidFill>
                  </a:tcPr>
                </a:tc>
              </a:tr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Menor privilegio (JIT / JEA)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Roles y perfiles: </a:t>
                      </a: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RBAC de Azure con alcance mínimo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BF9"/>
                    </a:solidFill>
                  </a:tcPr>
                </a:tc>
              </a:tr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Identidades de cargas de trabajo sin credenciales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Managed identities: </a:t>
                      </a: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un recurso accede a otro servicio sin secretos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BF9"/>
                    </a:solidFill>
                  </a:tcPr>
                </a:tc>
              </a:tr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Gobierno y configuración segura (asumir brecha)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Azure Policy: </a:t>
                      </a: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políticas de auditoría / denegación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BF9"/>
                    </a:solidFill>
                  </a:tcPr>
                </a:tc>
              </a:tr>
              <a:tr h="5119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Monitoreo continuo (verificar explícitamente)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F948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Postura de seguridad: </a:t>
                      </a:r>
                      <a:r>
                        <a:rPr lang="en-US" sz="1100" b="0" u="none" strike="noStrike">
                          <a:solidFill>
                            <a:srgbClr val="26314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Defender for Cloud — secure score y recomendaciones</a:t>
                      </a:r>
                      <a:endParaRPr lang="es-CO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D8E0EE"/>
                      </a:solidFill>
                      <a:prstDash val="solid"/>
                    </a:lnL>
                    <a:lnR w="6480">
                      <a:solidFill>
                        <a:srgbClr val="D8E0EE"/>
                      </a:solidFill>
                      <a:prstDash val="solid"/>
                    </a:lnR>
                    <a:lnT w="6480">
                      <a:solidFill>
                        <a:srgbClr val="D8E0EE"/>
                      </a:solidFill>
                      <a:prstDash val="solid"/>
                    </a:lnT>
                    <a:lnB w="6480">
                      <a:solidFill>
                        <a:srgbClr val="D8E0EE"/>
                      </a:solidFill>
                      <a:prstDash val="solid"/>
                    </a:lnB>
                    <a:solidFill>
                      <a:srgbClr val="F3FB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Text 0"/>
          <p:cNvSpPr/>
          <p:nvPr/>
        </p:nvSpPr>
        <p:spPr>
          <a:xfrm>
            <a:off x="502920" y="29268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F9488"/>
                </a:solidFill>
                <a:effectLst/>
                <a:uFillTx/>
                <a:latin typeface="Calibri"/>
                <a:ea typeface="Calibri"/>
              </a:rPr>
              <a:t>PUENTE AL LABORATORIO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"/>
          <p:cNvSpPr/>
          <p:nvPr/>
        </p:nvSpPr>
        <p:spPr>
          <a:xfrm>
            <a:off x="502920" y="530280"/>
            <a:ext cx="8229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Flujo del laboratorio (90 min)</a:t>
            </a:r>
            <a:endParaRPr lang="es-CO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2"/>
          <p:cNvSpPr/>
          <p:nvPr/>
        </p:nvSpPr>
        <p:spPr>
          <a:xfrm>
            <a:off x="502920" y="136260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3"/>
          <p:cNvSpPr/>
          <p:nvPr/>
        </p:nvSpPr>
        <p:spPr>
          <a:xfrm>
            <a:off x="502920" y="1362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4"/>
          <p:cNvSpPr/>
          <p:nvPr/>
        </p:nvSpPr>
        <p:spPr>
          <a:xfrm>
            <a:off x="1124640" y="138996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8" name="Image 0" descr="preencoded.png"/>
          <p:cNvPicPr/>
          <p:nvPr/>
        </p:nvPicPr>
        <p:blipFill>
          <a:blip r:embed="rId1"/>
          <a:stretch/>
        </p:blipFill>
        <p:spPr>
          <a:xfrm>
            <a:off x="1213200" y="14785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9" name="Text 5"/>
          <p:cNvSpPr/>
          <p:nvPr/>
        </p:nvSpPr>
        <p:spPr>
          <a:xfrm>
            <a:off x="1691640" y="1298520"/>
            <a:ext cx="69490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Identidades.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Crear usuarios y grupos en Microsoft Entra ID.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6"/>
          <p:cNvSpPr/>
          <p:nvPr/>
        </p:nvSpPr>
        <p:spPr>
          <a:xfrm>
            <a:off x="502920" y="203904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7"/>
          <p:cNvSpPr/>
          <p:nvPr/>
        </p:nvSpPr>
        <p:spPr>
          <a:xfrm>
            <a:off x="502920" y="203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8"/>
          <p:cNvSpPr/>
          <p:nvPr/>
        </p:nvSpPr>
        <p:spPr>
          <a:xfrm>
            <a:off x="1124640" y="20664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3" name="Image 1" descr="preencoded.png"/>
          <p:cNvPicPr/>
          <p:nvPr/>
        </p:nvPicPr>
        <p:blipFill>
          <a:blip r:embed="rId2"/>
          <a:stretch/>
        </p:blipFill>
        <p:spPr>
          <a:xfrm>
            <a:off x="1213200" y="21549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4" name="Text 9"/>
          <p:cNvSpPr/>
          <p:nvPr/>
        </p:nvSpPr>
        <p:spPr>
          <a:xfrm>
            <a:off x="1691640" y="1974960"/>
            <a:ext cx="69490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Roles y perfiles.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Asignar roles RBAC con el principio de menor privilegio.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10"/>
          <p:cNvSpPr/>
          <p:nvPr/>
        </p:nvSpPr>
        <p:spPr>
          <a:xfrm>
            <a:off x="502920" y="271584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502920" y="2715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2"/>
          <p:cNvSpPr/>
          <p:nvPr/>
        </p:nvSpPr>
        <p:spPr>
          <a:xfrm>
            <a:off x="1124640" y="27432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Image 2" descr="preencoded.png"/>
          <p:cNvPicPr/>
          <p:nvPr/>
        </p:nvPicPr>
        <p:blipFill>
          <a:blip r:embed="rId3"/>
          <a:stretch/>
        </p:blipFill>
        <p:spPr>
          <a:xfrm>
            <a:off x="1213200" y="283176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 13"/>
          <p:cNvSpPr/>
          <p:nvPr/>
        </p:nvSpPr>
        <p:spPr>
          <a:xfrm>
            <a:off x="1691640" y="2651760"/>
            <a:ext cx="69490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Managed identity.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Habilitarla y usarla para acceder a Key Vault o Storage sin credenciales.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4"/>
          <p:cNvSpPr/>
          <p:nvPr/>
        </p:nvSpPr>
        <p:spPr>
          <a:xfrm>
            <a:off x="502920" y="339228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5"/>
          <p:cNvSpPr/>
          <p:nvPr/>
        </p:nvSpPr>
        <p:spPr>
          <a:xfrm>
            <a:off x="502920" y="33922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6"/>
          <p:cNvSpPr/>
          <p:nvPr/>
        </p:nvSpPr>
        <p:spPr>
          <a:xfrm>
            <a:off x="1124640" y="342000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3" descr="preencoded.png"/>
          <p:cNvPicPr/>
          <p:nvPr/>
        </p:nvPicPr>
        <p:blipFill>
          <a:blip r:embed="rId4"/>
          <a:stretch/>
        </p:blipFill>
        <p:spPr>
          <a:xfrm>
            <a:off x="1213200" y="3508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17"/>
          <p:cNvSpPr/>
          <p:nvPr/>
        </p:nvSpPr>
        <p:spPr>
          <a:xfrm>
            <a:off x="1691640" y="3328560"/>
            <a:ext cx="69490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Azure Policy.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Crear y asignar una política (p. ej., exigir cifrado o denegar recursos sin etiquetas).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8"/>
          <p:cNvSpPr/>
          <p:nvPr/>
        </p:nvSpPr>
        <p:spPr>
          <a:xfrm>
            <a:off x="502920" y="4069080"/>
            <a:ext cx="456840" cy="456840"/>
          </a:xfrm>
          <a:prstGeom prst="ellipse">
            <a:avLst/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9"/>
          <p:cNvSpPr/>
          <p:nvPr/>
        </p:nvSpPr>
        <p:spPr>
          <a:xfrm>
            <a:off x="502920" y="4069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C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20"/>
          <p:cNvSpPr/>
          <p:nvPr/>
        </p:nvSpPr>
        <p:spPr>
          <a:xfrm>
            <a:off x="1124640" y="4096440"/>
            <a:ext cx="402120" cy="402120"/>
          </a:xfrm>
          <a:prstGeom prst="ellipse">
            <a:avLst/>
          </a:prstGeom>
          <a:solidFill>
            <a:srgbClr val="E4EE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Image 4" descr="preencoded.png"/>
          <p:cNvPicPr/>
          <p:nvPr/>
        </p:nvPicPr>
        <p:blipFill>
          <a:blip r:embed="rId5"/>
          <a:stretch/>
        </p:blipFill>
        <p:spPr>
          <a:xfrm>
            <a:off x="1213200" y="41850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Text 21"/>
          <p:cNvSpPr/>
          <p:nvPr/>
        </p:nvSpPr>
        <p:spPr>
          <a:xfrm>
            <a:off x="1691640" y="4005000"/>
            <a:ext cx="69490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761"/>
                </a:solidFill>
                <a:effectLst/>
                <a:uFillTx/>
                <a:latin typeface="Calibri"/>
                <a:ea typeface="Calibri"/>
              </a:rPr>
              <a:t>Postura de seguridad.  </a:t>
            </a:r>
            <a:r>
              <a:rPr lang="en-US" sz="1300" b="0" u="none" strike="noStrike">
                <a:solidFill>
                  <a:srgbClr val="26314E"/>
                </a:solidFill>
                <a:effectLst/>
                <a:uFillTx/>
                <a:latin typeface="Calibri"/>
                <a:ea typeface="Calibri"/>
              </a:rPr>
              <a:t>Revisar el secure score en Defender for Cloud, interpretar recomendaciones y remediar una.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Shape 0"/>
          <p:cNvSpPr/>
          <p:nvPr/>
        </p:nvSpPr>
        <p:spPr>
          <a:xfrm>
            <a:off x="6675120" y="-1645920"/>
            <a:ext cx="4571640" cy="4571640"/>
          </a:xfrm>
          <a:prstGeom prst="ellipse">
            <a:avLst/>
          </a:prstGeom>
          <a:solidFill>
            <a:srgbClr val="CADCFC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"/>
          <p:cNvSpPr/>
          <p:nvPr/>
        </p:nvSpPr>
        <p:spPr>
          <a:xfrm>
            <a:off x="502920" y="411480"/>
            <a:ext cx="8137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CIERRE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"/>
          <p:cNvSpPr/>
          <p:nvPr/>
        </p:nvSpPr>
        <p:spPr>
          <a:xfrm>
            <a:off x="502920" y="71316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Preguntas de repaso y referencias</a:t>
            </a:r>
            <a:endParaRPr lang="es-CO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3"/>
          <p:cNvSpPr/>
          <p:nvPr/>
        </p:nvSpPr>
        <p:spPr>
          <a:xfrm>
            <a:off x="502920" y="1454040"/>
            <a:ext cx="383760" cy="383760"/>
          </a:xfrm>
          <a:prstGeom prst="ellipse">
            <a:avLst/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4"/>
          <p:cNvSpPr/>
          <p:nvPr/>
        </p:nvSpPr>
        <p:spPr>
          <a:xfrm>
            <a:off x="502920" y="1454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5"/>
          <p:cNvSpPr/>
          <p:nvPr/>
        </p:nvSpPr>
        <p:spPr>
          <a:xfrm>
            <a:off x="1051560" y="1417320"/>
            <a:ext cx="5120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¿Quién protege los datos en SaaS?</a:t>
            </a:r>
            <a:endParaRPr lang="es-CO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6"/>
          <p:cNvSpPr/>
          <p:nvPr/>
        </p:nvSpPr>
        <p:spPr>
          <a:xfrm>
            <a:off x="502920" y="2020680"/>
            <a:ext cx="383760" cy="383760"/>
          </a:xfrm>
          <a:prstGeom prst="ellipse">
            <a:avLst/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7"/>
          <p:cNvSpPr/>
          <p:nvPr/>
        </p:nvSpPr>
        <p:spPr>
          <a:xfrm>
            <a:off x="502920" y="2020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8"/>
          <p:cNvSpPr/>
          <p:nvPr/>
        </p:nvSpPr>
        <p:spPr>
          <a:xfrm>
            <a:off x="1051560" y="1984320"/>
            <a:ext cx="5120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¿Qué propiedad de seguridad viola el tampering?</a:t>
            </a:r>
            <a:endParaRPr lang="es-CO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9"/>
          <p:cNvSpPr/>
          <p:nvPr/>
        </p:nvSpPr>
        <p:spPr>
          <a:xfrm>
            <a:off x="502920" y="2587680"/>
            <a:ext cx="383760" cy="383760"/>
          </a:xfrm>
          <a:prstGeom prst="ellipse">
            <a:avLst/>
          </a:prstGeom>
          <a:solidFill>
            <a:srgbClr val="2EC4B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10"/>
          <p:cNvSpPr/>
          <p:nvPr/>
        </p:nvSpPr>
        <p:spPr>
          <a:xfrm>
            <a:off x="502920" y="2587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1C4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11"/>
          <p:cNvSpPr/>
          <p:nvPr/>
        </p:nvSpPr>
        <p:spPr>
          <a:xfrm>
            <a:off x="1051560" y="2551320"/>
            <a:ext cx="5120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¿Cuáles son los tres principios de Zero Trust?</a:t>
            </a:r>
            <a:endParaRPr lang="es-CO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12"/>
          <p:cNvSpPr/>
          <p:nvPr/>
        </p:nvSpPr>
        <p:spPr>
          <a:xfrm>
            <a:off x="502920" y="3246120"/>
            <a:ext cx="8137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EC4B6"/>
                </a:solidFill>
                <a:effectLst/>
                <a:uFillTx/>
                <a:latin typeface="Calibri"/>
                <a:ea typeface="Calibri"/>
              </a:rPr>
              <a:t>Referencias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13"/>
          <p:cNvSpPr/>
          <p:nvPr/>
        </p:nvSpPr>
        <p:spPr>
          <a:xfrm>
            <a:off x="502920" y="3566160"/>
            <a:ext cx="8137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Shared responsibility in the cloud — learn.microsoft.com/azure/security/fundamentals/shared-responsibility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What is Zero Trust? — learn.microsoft.com/security/zero-trust/zero-trust-overview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OWASP Threat Modeling — owasp.org/www-community/Threat_Modeling  ·  Threat Dragon — owasp.org/www-project-threat-dragon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Microsoft Threat Modeling Tool — learn.microsoft.com/azure/security/develop/threat-modeling-tool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Defender for Cloud, secure score — learn.microsoft.com/azure/defender-for-cloud/secure-score-security-controls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4"/>
          <p:cNvSpPr/>
          <p:nvPr/>
        </p:nvSpPr>
        <p:spPr>
          <a:xfrm>
            <a:off x="502920" y="470916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Manuel Alejandro Vargas Rojas  ·  manuelvargasrojas@cedoc.edu.co</a:t>
            </a:r>
            <a:endParaRPr lang="es-CO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LibreOffice/26.2.4.2$Windows_X86_64 LibreOffice_project/0229ac93fcf0d7cbc6376066c6f35021cef002dc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2026-07-05T03:39:28Z</dcterms:created>
  <dc:creator>Manuel Alejandro Vargas Rojas</dc:creator>
  <dc:description/>
  <dc:language>es-CO</dc:language>
  <cp:lastModifiedBy/>
  <dcterms:modified xsi:type="dcterms:W3CDTF">2026-07-08T16:00:34Z</dcterms:modified>
  <cp:revision>2</cp:revision>
  <dc:subject>PptxGenJS Presentation</dc:subject>
  <dc:title>Sesión 1 — Fundamentos de Seguridad en la Nube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39</vt:i4>
  </property>
  <property fmtid="{D5CDD505-2E9C-101B-9397-08002B2CF9AE}" pid="3" name="PresentationFormat">
    <vt:lpwstr>On-screen Show (16:9)</vt:lpwstr>
  </property>
  <property fmtid="{D5CDD505-2E9C-101B-9397-08002B2CF9AE}" pid="4" name="Slides">
    <vt:i4>39</vt:i4>
  </property>
</Properties>
</file>