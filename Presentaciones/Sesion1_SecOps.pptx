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image" Target="../media/image-3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image" Target="../media/image-3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0" y="-1920240"/>
            <a:ext cx="5486400" cy="5486400"/>
          </a:xfrm>
          <a:prstGeom prst="ellipse">
            <a:avLst/>
          </a:prstGeom>
          <a:solidFill>
            <a:srgbClr val="CADCFC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3108960"/>
            <a:ext cx="4389120" cy="4389120"/>
          </a:xfrm>
          <a:prstGeom prst="ellipse">
            <a:avLst/>
          </a:prstGeom>
          <a:solidFill>
            <a:srgbClr val="2EC4B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05156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SECOPS · SESIÓN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8138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Seguridad en la Nube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288036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 compartida · Gestión de riesgos · Threat Modeling · Zero Trust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331012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Duración: 4 horas  ·  2.5 h teoría  +  1.5 h laboratorio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4069080"/>
            <a:ext cx="2926080" cy="0"/>
          </a:xfrm>
          <a:prstGeom prst="line">
            <a:avLst/>
          </a:prstGeom>
          <a:noFill/>
          <a:ln w="19050">
            <a:solidFill>
              <a:srgbClr val="2EC4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42062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 Alejandro Vargas Rojas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manuelvargasrojas@cedoc.edu.co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y distribución de tiempos</a:t>
            </a:r>
            <a:endParaRPr lang="en-US" sz="2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07008"/>
          <a:ext cx="81381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5760720"/>
                <a:gridCol w="1463040"/>
              </a:tblGrid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Apertura y objetivos de la sesión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de responsabilidad compartida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Gestión de riesgos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Threat Modeling: fundamentos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 — Metodología STRIDE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 — Metodología OWASP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Descanso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Trust en profundidad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Puente al laboratorio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Identidades, roles, Azure Policy y postura de seguridad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6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6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 aprendizaje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80744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3807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298448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Delimitar responsabilidades de seguridad entre proveedor y cliente según el modelo de servicio (IaaS / PaaS / SaaS).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2112264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2029968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un proceso básico de gestión de riesgos a un escenario de nube.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2843784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8437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2761488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un ejercicio de threat modeling usando STRIDE y el enfoque OWASP.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3575304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5753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3493008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los principios y pilares de Zero Trust y su materialización en Azure.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02920" y="4306824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3068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4224528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los componentes del laboratorio: identidades, roles, managed identities, Azure Policy y postura de seguridad.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empezar aquí? El hilo conductor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847088" cy="2011680"/>
          </a:xfrm>
          <a:prstGeom prst="roundRect">
            <a:avLst>
              <a:gd name="adj" fmla="val 4455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181051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947672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468880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6072" y="2706624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 compartida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76072" y="3182112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me toca proteger</a:t>
            </a:r>
            <a:endParaRPr lang="en-US" sz="10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1156" y="2468880"/>
            <a:ext cx="182880" cy="1828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606040" y="1554480"/>
            <a:ext cx="1847088" cy="2011680"/>
          </a:xfrm>
          <a:prstGeom prst="roundRect">
            <a:avLst>
              <a:gd name="adj" fmla="val 4455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246120" y="181051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947672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606040" y="2468880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AMENAZA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2679192" y="2706624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y Threat Modeling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2679192" y="3182112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puede salir mal</a:t>
            </a:r>
            <a:endParaRPr lang="en-US" sz="10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4276" y="2468880"/>
            <a:ext cx="182880" cy="18288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4709160" y="1554480"/>
            <a:ext cx="1847088" cy="2011680"/>
          </a:xfrm>
          <a:prstGeom prst="roundRect">
            <a:avLst>
              <a:gd name="adj" fmla="val 4455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5349240" y="181051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1947672"/>
            <a:ext cx="292608" cy="29260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709160" y="2468880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4782312" y="2706624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4782312" y="3182112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diseño la defensa</a:t>
            </a:r>
            <a:endParaRPr lang="en-US" sz="105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7396" y="2468880"/>
            <a:ext cx="182880" cy="18288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6812280" y="1554480"/>
            <a:ext cx="1847088" cy="2011680"/>
          </a:xfrm>
          <a:prstGeom prst="roundRect">
            <a:avLst>
              <a:gd name="adj" fmla="val 445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7452360" y="1810512"/>
            <a:ext cx="566928" cy="566928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520" y="1947672"/>
            <a:ext cx="292608" cy="29260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812280" y="2468880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</a:t>
            </a:r>
            <a:endParaRPr lang="en-US" sz="1050" dirty="0"/>
          </a:p>
        </p:txBody>
      </p:sp>
      <p:sp>
        <p:nvSpPr>
          <p:cNvPr id="29" name="Text 20"/>
          <p:cNvSpPr/>
          <p:nvPr/>
        </p:nvSpPr>
        <p:spPr>
          <a:xfrm>
            <a:off x="6885432" y="2706624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en Azure</a:t>
            </a:r>
            <a:endParaRPr lang="en-US" sz="1300" dirty="0"/>
          </a:p>
        </p:txBody>
      </p:sp>
      <p:sp>
        <p:nvSpPr>
          <p:cNvPr id="30" name="Text 21"/>
          <p:cNvSpPr/>
          <p:nvPr/>
        </p:nvSpPr>
        <p:spPr>
          <a:xfrm>
            <a:off x="6885432" y="3182112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lo implemento</a:t>
            </a:r>
            <a:endParaRPr lang="en-US" sz="1050" dirty="0"/>
          </a:p>
        </p:txBody>
      </p:sp>
      <p:sp>
        <p:nvSpPr>
          <p:cNvPr id="31" name="Text 22"/>
          <p:cNvSpPr/>
          <p:nvPr/>
        </p:nvSpPr>
        <p:spPr>
          <a:xfrm>
            <a:off x="502920" y="39776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seguridad en la nube no es un producto: </a:t>
            </a:r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cadena de decisiones.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-1463040"/>
            <a:ext cx="4206240" cy="4206240"/>
          </a:xfrm>
          <a:prstGeom prst="ellipse">
            <a:avLst/>
          </a:prstGeom>
          <a:solidFill>
            <a:srgbClr val="CADCFC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3566160"/>
            <a:ext cx="3291840" cy="3291840"/>
          </a:xfrm>
          <a:prstGeom prst="ellipse">
            <a:avLst/>
          </a:prstGeom>
          <a:solidFill>
            <a:srgbClr val="2EC4B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Responsabilidad Compartida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02920" y="3246120"/>
            <a:ext cx="1417320" cy="411480"/>
          </a:xfrm>
          <a:prstGeom prst="roundRect">
            <a:avLst>
              <a:gd name="adj" fmla="val 48889"/>
            </a:avLst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32461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903720" y="1691640"/>
            <a:ext cx="1554480" cy="1554480"/>
          </a:xfrm>
          <a:prstGeom prst="ellipse">
            <a:avLst/>
          </a:prstGeom>
          <a:solidFill>
            <a:srgbClr val="2EC4B6">
              <a:alpha val="22000"/>
            </a:srgbClr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12" y="2084832"/>
            <a:ext cx="768096" cy="7680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 COMPARTIDA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que resuelve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4846320" cy="1170432"/>
          </a:xfrm>
          <a:prstGeom prst="roundRect">
            <a:avLst>
              <a:gd name="adj" fmla="val 7031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98448"/>
            <a:ext cx="44805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una VM en Azure es comprometida por un parche faltante del SO, ¿de quién es la culpa?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269748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on-premises el cliente responde por toda la pila: instalaciones, red, hosts, hipervisor, SO, aplicaciones y datos.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migrar a la nube, el proveedor asume progresivamente capas de esa pila…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…pero NUNCA todas: siempre queda una porción del cliente.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806440" y="1298448"/>
            <a:ext cx="274320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806440" y="12984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06440" y="1737360"/>
            <a:ext cx="274320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806440" y="17373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06440" y="2176272"/>
            <a:ext cx="2743200" cy="384048"/>
          </a:xfrm>
          <a:prstGeom prst="roundRect">
            <a:avLst>
              <a:gd name="adj" fmla="val 14286"/>
            </a:avLst>
          </a:prstGeom>
          <a:solidFill>
            <a:srgbClr val="DCE6F8"/>
          </a:solidFill>
          <a:ln/>
        </p:spPr>
      </p:sp>
      <p:sp>
        <p:nvSpPr>
          <p:cNvPr id="12" name="Text 10"/>
          <p:cNvSpPr/>
          <p:nvPr/>
        </p:nvSpPr>
        <p:spPr>
          <a:xfrm>
            <a:off x="5806440" y="217627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06440" y="2615184"/>
            <a:ext cx="2743200" cy="384048"/>
          </a:xfrm>
          <a:prstGeom prst="roundRect">
            <a:avLst>
              <a:gd name="adj" fmla="val 14286"/>
            </a:avLst>
          </a:prstGeom>
          <a:solidFill>
            <a:srgbClr val="DCE6F8"/>
          </a:solidFill>
          <a:ln/>
        </p:spPr>
      </p:sp>
      <p:sp>
        <p:nvSpPr>
          <p:cNvPr id="14" name="Text 12"/>
          <p:cNvSpPr/>
          <p:nvPr/>
        </p:nvSpPr>
        <p:spPr>
          <a:xfrm>
            <a:off x="5806440" y="261518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06440" y="3054096"/>
            <a:ext cx="2743200" cy="384048"/>
          </a:xfrm>
          <a:prstGeom prst="roundRect">
            <a:avLst>
              <a:gd name="adj" fmla="val 14286"/>
            </a:avLst>
          </a:prstGeom>
          <a:solidFill>
            <a:srgbClr val="DCE6F8"/>
          </a:solidFill>
          <a:ln/>
        </p:spPr>
      </p:sp>
      <p:sp>
        <p:nvSpPr>
          <p:cNvPr id="16" name="Text 14"/>
          <p:cNvSpPr/>
          <p:nvPr/>
        </p:nvSpPr>
        <p:spPr>
          <a:xfrm>
            <a:off x="5806440" y="305409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operativo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06440" y="3493008"/>
            <a:ext cx="2743200" cy="384048"/>
          </a:xfrm>
          <a:prstGeom prst="roundRect">
            <a:avLst>
              <a:gd name="adj" fmla="val 14286"/>
            </a:avLst>
          </a:prstGeom>
          <a:solidFill>
            <a:srgbClr val="DCE6F8"/>
          </a:solidFill>
          <a:ln/>
        </p:spPr>
      </p:sp>
      <p:sp>
        <p:nvSpPr>
          <p:cNvPr id="18" name="Text 16"/>
          <p:cNvSpPr/>
          <p:nvPr/>
        </p:nvSpPr>
        <p:spPr>
          <a:xfrm>
            <a:off x="5806440" y="34930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Hipervisor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806440" y="3931920"/>
            <a:ext cx="2743200" cy="384048"/>
          </a:xfrm>
          <a:prstGeom prst="roundRect">
            <a:avLst>
              <a:gd name="adj" fmla="val 14286"/>
            </a:avLst>
          </a:prstGeom>
          <a:solidFill>
            <a:srgbClr val="DCE6F8"/>
          </a:solidFill>
          <a:ln/>
        </p:spPr>
      </p:sp>
      <p:sp>
        <p:nvSpPr>
          <p:cNvPr id="20" name="Text 18"/>
          <p:cNvSpPr/>
          <p:nvPr/>
        </p:nvSpPr>
        <p:spPr>
          <a:xfrm>
            <a:off x="5806440" y="39319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físico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32120" y="44165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On-premises: todo es responsabilidad tuya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 COMPARTIDA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matriz IaaS / PaaS / SaaS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81381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371600"/>
                <a:gridCol w="1371600"/>
                <a:gridCol w="1371600"/>
                <a:gridCol w="137160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On-prem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e información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Cuentas e identidades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Dispositivos (endpoints)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Aplicación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Compartida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Proveedor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6F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Controles de 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Compartida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Proveedor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6F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 operativo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Proveedor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6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Proveedor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6F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Hosts / red / datacenter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Proveedor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6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Proveedor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6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Proveedor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6F3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224528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434" y="4313042"/>
            <a:ext cx="225308" cy="2253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418795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 clave: </a:t>
            </a:r>
            <a:pPr indent="0" marL="0">
              <a:buNone/>
            </a:pPr>
            <a:r>
              <a:rPr lang="en-US" sz="13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datos, las identidades y los endpoints son SIEMPRE responsabilidad del cliente, sin importar el modelo.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 COMPARTIDA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concretos en Azure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2596896" cy="2606040"/>
          </a:xfrm>
          <a:prstGeom prst="roundRect">
            <a:avLst>
              <a:gd name="adj" fmla="val 3169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536192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695" y="1640799"/>
            <a:ext cx="266273" cy="266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04088" y="21031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 — Azure VM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04088" y="26517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Microsoft: hasta el hipervisor.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Cliente: parcha el SO invitado, configura NSG / firewall, endurece la aplicación.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73552" y="1325880"/>
            <a:ext cx="2596896" cy="2606040"/>
          </a:xfrm>
          <a:prstGeom prst="roundRect">
            <a:avLst>
              <a:gd name="adj" fmla="val 3169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74720" y="1536192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9327" y="1640799"/>
            <a:ext cx="266273" cy="26627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21031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 — App Service, Azure SQL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474720" y="26517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Microsoft: parcha runtime y SO.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Cliente: código, cadenas de conexión, reglas de firewall, clasificación de datos.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44184" y="1325880"/>
            <a:ext cx="2596896" cy="2606040"/>
          </a:xfrm>
          <a:prstGeom prst="roundRect">
            <a:avLst>
              <a:gd name="adj" fmla="val 3169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45352" y="1536192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959" y="1640799"/>
            <a:ext cx="266273" cy="26627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45352" y="21031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— Microsoft 365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245352" y="26517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Microsoft: opera la aplicación completa.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Cliente: políticas de acceso y retención, protección de sus identidades.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02920" y="4224528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434" y="4313042"/>
            <a:ext cx="225308" cy="2253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51560" y="418795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</a:t>
            </a:r>
            <a:pPr indent="0" marL="0">
              <a:buNone/>
            </a:pPr>
            <a:r>
              <a:rPr lang="en-US" sz="13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no inspecciona ni monitorea las aplicaciones del cliente — el monitoreo de tus recursos es tuyo.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 COMPARTIDA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Implicaciones para SecOps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632204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434" y="1720718"/>
            <a:ext cx="225308" cy="2253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9848" y="1417320"/>
            <a:ext cx="7571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brechas más comunes no son del proveedor. </a:t>
            </a:r>
            <a:pPr indent="0" marL="0">
              <a:buNone/>
            </a:pPr>
            <a:r>
              <a:rPr lang="en-US" sz="14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mayoría de los incidentes en nube provienen de malas configuraciones del lado del cliente.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2500884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34" y="2589398"/>
            <a:ext cx="225308" cy="2253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69848" y="2286000"/>
            <a:ext cx="7571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el alcance de tu programa de seguridad. </a:t>
            </a:r>
            <a:pPr indent="0" marL="0">
              <a:buNone/>
            </a:pPr>
            <a:r>
              <a:rPr lang="en-US" sz="14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el proveedor no cubre debe entrar a tu gestión de riesgos.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02920" y="3369564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34" y="3458078"/>
            <a:ext cx="225308" cy="2253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69848" y="3154680"/>
            <a:ext cx="7571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identidad se vuelve el activo crítico. </a:t>
            </a:r>
            <a:pPr indent="0" marL="0">
              <a:buNone/>
            </a:pPr>
            <a:r>
              <a:rPr lang="en-US" sz="14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responsabilidad del cliente en los tres modelos — por eso el laboratorio empieza ahí.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02920" y="4069080"/>
            <a:ext cx="8138160" cy="658368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14" name="Text 9"/>
          <p:cNvSpPr/>
          <p:nvPr/>
        </p:nvSpPr>
        <p:spPr>
          <a:xfrm>
            <a:off x="731520" y="406908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 →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queda de mi lado debe gestionarse como riesgo: Gestión de Riesgos.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-1463040"/>
            <a:ext cx="4206240" cy="4206240"/>
          </a:xfrm>
          <a:prstGeom prst="ellipse">
            <a:avLst/>
          </a:prstGeom>
          <a:solidFill>
            <a:srgbClr val="CADCFC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3566160"/>
            <a:ext cx="3291840" cy="3291840"/>
          </a:xfrm>
          <a:prstGeom prst="ellipse">
            <a:avLst/>
          </a:prstGeom>
          <a:solidFill>
            <a:srgbClr val="2EC4B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Riesgos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02920" y="3246120"/>
            <a:ext cx="1417320" cy="411480"/>
          </a:xfrm>
          <a:prstGeom prst="roundRect">
            <a:avLst>
              <a:gd name="adj" fmla="val 48889"/>
            </a:avLst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32461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903720" y="1691640"/>
            <a:ext cx="1554480" cy="1554480"/>
          </a:xfrm>
          <a:prstGeom prst="ellipse">
            <a:avLst/>
          </a:prstGeom>
          <a:solidFill>
            <a:srgbClr val="2EC4B6">
              <a:alpha val="22000"/>
            </a:srgbClr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12" y="2084832"/>
            <a:ext cx="768096" cy="76809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RIESGOS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base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2395728" cy="1481328"/>
          </a:xfrm>
          <a:prstGeom prst="roundRect">
            <a:avLst>
              <a:gd name="adj" fmla="val 5556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67512" y="1490472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026" y="1578986"/>
            <a:ext cx="225308" cy="2253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61288" y="1490472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67512" y="1984248"/>
            <a:ext cx="20665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tiene valor: datos, servicios, reputación.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099816" y="1325880"/>
            <a:ext cx="2395728" cy="1481328"/>
          </a:xfrm>
          <a:prstGeom prst="roundRect">
            <a:avLst>
              <a:gd name="adj" fmla="val 5556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64408" y="1490472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922" y="1578986"/>
            <a:ext cx="225308" cy="2253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58184" y="1490472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Amenaza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264408" y="1984248"/>
            <a:ext cx="20665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potencial que puede causar daño (actor o accidente).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2920" y="3035808"/>
            <a:ext cx="2395728" cy="1481328"/>
          </a:xfrm>
          <a:prstGeom prst="roundRect">
            <a:avLst>
              <a:gd name="adj" fmla="val 5556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67512" y="3200400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26" y="3288914"/>
            <a:ext cx="225308" cy="2253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61288" y="3200400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67512" y="3694176"/>
            <a:ext cx="20665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Debilidad explotable de un activo o proceso.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3099816" y="3035808"/>
            <a:ext cx="2395728" cy="1481328"/>
          </a:xfrm>
          <a:prstGeom prst="roundRect">
            <a:avLst>
              <a:gd name="adj" fmla="val 5556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264408" y="3200400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922" y="3288914"/>
            <a:ext cx="225308" cy="2253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758184" y="3200400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3264408" y="3694176"/>
            <a:ext cx="20665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Posibilidad de que una amenaza explote una vulnerabilidad y afecte un activo.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623560" y="1325880"/>
            <a:ext cx="3017520" cy="1481328"/>
          </a:xfrm>
          <a:prstGeom prst="roundRect">
            <a:avLst>
              <a:gd name="adj" fmla="val 555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5623560" y="14813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623560" y="17830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× Impacto</a:t>
            </a:r>
            <a:endParaRPr lang="en-US" sz="2100" dirty="0"/>
          </a:p>
        </p:txBody>
      </p:sp>
      <p:sp>
        <p:nvSpPr>
          <p:cNvPr id="27" name="Shape 21"/>
          <p:cNvSpPr/>
          <p:nvPr/>
        </p:nvSpPr>
        <p:spPr>
          <a:xfrm>
            <a:off x="5623560" y="3035808"/>
            <a:ext cx="3017520" cy="1481328"/>
          </a:xfrm>
          <a:prstGeom prst="roundRect">
            <a:avLst>
              <a:gd name="adj" fmla="val 5556"/>
            </a:avLst>
          </a:prstGeom>
          <a:solidFill>
            <a:srgbClr val="E2F6F3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28" name="Text 22"/>
          <p:cNvSpPr/>
          <p:nvPr/>
        </p:nvSpPr>
        <p:spPr>
          <a:xfrm>
            <a:off x="5806440" y="315468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confundir: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Amenaza: la lluvia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Vulnerabilidad: el techo roto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Riesgo: inundación del datacenter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RIESGOS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de gestión (ISO 31000 / NIST RMF)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481328" cy="1691640"/>
          </a:xfrm>
          <a:prstGeom prst="roundRect">
            <a:avLst>
              <a:gd name="adj" fmla="val 5556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14984" y="16459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014984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2176272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2468880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de activos y amenazas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157984" y="1463040"/>
            <a:ext cx="1481328" cy="1691640"/>
          </a:xfrm>
          <a:prstGeom prst="roundRect">
            <a:avLst>
              <a:gd name="adj" fmla="val 5556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70048" y="16459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2670048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203704" y="2176272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249424" y="2468880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e impacto, cualitativo o cuantitativo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13048" y="1463040"/>
            <a:ext cx="1481328" cy="1691640"/>
          </a:xfrm>
          <a:prstGeom prst="roundRect">
            <a:avLst>
              <a:gd name="adj" fmla="val 5556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25112" y="16459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4325112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858768" y="2176272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904488" y="2468880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contra el apetito de riesgo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68112" y="1463040"/>
            <a:ext cx="1481328" cy="1691640"/>
          </a:xfrm>
          <a:prstGeom prst="roundRect">
            <a:avLst>
              <a:gd name="adj" fmla="val 5556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80176" y="16459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980176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513832" y="2176272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559552" y="2468880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el tratamiento adecuado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123176" y="1463040"/>
            <a:ext cx="1481328" cy="1691640"/>
          </a:xfrm>
          <a:prstGeom prst="roundRect">
            <a:avLst>
              <a:gd name="adj" fmla="val 5556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635240" y="16459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76352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168896" y="2176272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Monitorear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214616" y="2468880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riesgo es dinámico, más aún en nube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2920" y="3520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opciones de tratamiento: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91840" y="3520440"/>
            <a:ext cx="1170432" cy="365760"/>
          </a:xfrm>
          <a:prstGeom prst="roundRect">
            <a:avLst>
              <a:gd name="adj" fmla="val 50000"/>
            </a:avLst>
          </a:prstGeom>
          <a:solidFill>
            <a:srgbClr val="E2F6F3"/>
          </a:solidFill>
          <a:ln/>
        </p:spPr>
      </p:sp>
      <p:sp>
        <p:nvSpPr>
          <p:cNvPr id="31" name="Text 29"/>
          <p:cNvSpPr/>
          <p:nvPr/>
        </p:nvSpPr>
        <p:spPr>
          <a:xfrm>
            <a:off x="3291840" y="352044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Mitigar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590288" y="3520440"/>
            <a:ext cx="1170432" cy="365760"/>
          </a:xfrm>
          <a:prstGeom prst="roundRect">
            <a:avLst>
              <a:gd name="adj" fmla="val 50000"/>
            </a:avLst>
          </a:prstGeom>
          <a:solidFill>
            <a:srgbClr val="E2F6F3"/>
          </a:solidFill>
          <a:ln/>
        </p:spPr>
      </p:sp>
      <p:sp>
        <p:nvSpPr>
          <p:cNvPr id="33" name="Text 31"/>
          <p:cNvSpPr/>
          <p:nvPr/>
        </p:nvSpPr>
        <p:spPr>
          <a:xfrm>
            <a:off x="4590288" y="352044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Transferir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888736" y="3520440"/>
            <a:ext cx="1170432" cy="365760"/>
          </a:xfrm>
          <a:prstGeom prst="roundRect">
            <a:avLst>
              <a:gd name="adj" fmla="val 50000"/>
            </a:avLst>
          </a:prstGeom>
          <a:solidFill>
            <a:srgbClr val="E2F6F3"/>
          </a:solidFill>
          <a:ln/>
        </p:spPr>
      </p:sp>
      <p:sp>
        <p:nvSpPr>
          <p:cNvPr id="35" name="Text 33"/>
          <p:cNvSpPr/>
          <p:nvPr/>
        </p:nvSpPr>
        <p:spPr>
          <a:xfrm>
            <a:off x="5888736" y="352044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Aceptar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187184" y="3520440"/>
            <a:ext cx="1170432" cy="365760"/>
          </a:xfrm>
          <a:prstGeom prst="roundRect">
            <a:avLst>
              <a:gd name="adj" fmla="val 50000"/>
            </a:avLst>
          </a:prstGeom>
          <a:solidFill>
            <a:srgbClr val="E2F6F3"/>
          </a:solidFill>
          <a:ln/>
        </p:spPr>
      </p:sp>
      <p:sp>
        <p:nvSpPr>
          <p:cNvPr id="37" name="Text 35"/>
          <p:cNvSpPr/>
          <p:nvPr/>
        </p:nvSpPr>
        <p:spPr>
          <a:xfrm>
            <a:off x="7187184" y="352044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02920" y="41605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pasos 1 a 3 son exactamente lo que el threat modeling hará de forma estructurada en los próximos bloques.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RIESGOS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Ejercicio: matriz de riesgo 5×5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0" y="3291840"/>
            <a:ext cx="429768" cy="429768"/>
          </a:xfrm>
          <a:prstGeom prst="rect">
            <a:avLst/>
          </a:prstGeom>
          <a:solidFill>
            <a:srgbClr val="8FCB9B"/>
          </a:solidFill>
          <a:ln/>
        </p:spPr>
      </p:sp>
      <p:sp>
        <p:nvSpPr>
          <p:cNvPr id="5" name="Shape 3"/>
          <p:cNvSpPr/>
          <p:nvPr/>
        </p:nvSpPr>
        <p:spPr>
          <a:xfrm>
            <a:off x="1371600" y="3291840"/>
            <a:ext cx="429768" cy="429768"/>
          </a:xfrm>
          <a:prstGeom prst="rect">
            <a:avLst/>
          </a:prstGeom>
          <a:solidFill>
            <a:srgbClr val="8FCB9B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0" y="3291840"/>
            <a:ext cx="429768" cy="429768"/>
          </a:xfrm>
          <a:prstGeom prst="rect">
            <a:avLst/>
          </a:prstGeom>
          <a:solidFill>
            <a:srgbClr val="8FCB9B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0" y="3291840"/>
            <a:ext cx="429768" cy="429768"/>
          </a:xfrm>
          <a:prstGeom prst="rect">
            <a:avLst/>
          </a:prstGeom>
          <a:solidFill>
            <a:srgbClr val="8FCB9B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0" y="3291840"/>
            <a:ext cx="429768" cy="429768"/>
          </a:xfrm>
          <a:prstGeom prst="rect">
            <a:avLst/>
          </a:prstGeom>
          <a:solidFill>
            <a:srgbClr val="F5D66F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834640"/>
            <a:ext cx="429768" cy="429768"/>
          </a:xfrm>
          <a:prstGeom prst="rect">
            <a:avLst/>
          </a:prstGeom>
          <a:solidFill>
            <a:srgbClr val="8FCB9B"/>
          </a:solidFill>
          <a:ln/>
        </p:spPr>
      </p:sp>
      <p:sp>
        <p:nvSpPr>
          <p:cNvPr id="10" name="Shape 8"/>
          <p:cNvSpPr/>
          <p:nvPr/>
        </p:nvSpPr>
        <p:spPr>
          <a:xfrm>
            <a:off x="1371600" y="2834640"/>
            <a:ext cx="429768" cy="429768"/>
          </a:xfrm>
          <a:prstGeom prst="rect">
            <a:avLst/>
          </a:prstGeom>
          <a:solidFill>
            <a:srgbClr val="8FCB9B"/>
          </a:solidFill>
          <a:ln/>
        </p:spPr>
      </p:sp>
      <p:sp>
        <p:nvSpPr>
          <p:cNvPr id="11" name="Shape 9"/>
          <p:cNvSpPr/>
          <p:nvPr/>
        </p:nvSpPr>
        <p:spPr>
          <a:xfrm>
            <a:off x="1828800" y="2834640"/>
            <a:ext cx="429768" cy="429768"/>
          </a:xfrm>
          <a:prstGeom prst="rect">
            <a:avLst/>
          </a:prstGeom>
          <a:solidFill>
            <a:srgbClr val="8FCB9B"/>
          </a:solidFill>
          <a:ln/>
        </p:spPr>
      </p:sp>
      <p:sp>
        <p:nvSpPr>
          <p:cNvPr id="12" name="Shape 10"/>
          <p:cNvSpPr/>
          <p:nvPr/>
        </p:nvSpPr>
        <p:spPr>
          <a:xfrm>
            <a:off x="2286000" y="2834640"/>
            <a:ext cx="429768" cy="429768"/>
          </a:xfrm>
          <a:prstGeom prst="rect">
            <a:avLst/>
          </a:prstGeom>
          <a:solidFill>
            <a:srgbClr val="F5D66F"/>
          </a:solidFill>
          <a:ln/>
        </p:spPr>
      </p:sp>
      <p:sp>
        <p:nvSpPr>
          <p:cNvPr id="13" name="Shape 11"/>
          <p:cNvSpPr/>
          <p:nvPr/>
        </p:nvSpPr>
        <p:spPr>
          <a:xfrm>
            <a:off x="2743200" y="2834640"/>
            <a:ext cx="429768" cy="429768"/>
          </a:xfrm>
          <a:prstGeom prst="rect">
            <a:avLst/>
          </a:prstGeom>
          <a:solidFill>
            <a:srgbClr val="F5D66F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2377440"/>
            <a:ext cx="429768" cy="429768"/>
          </a:xfrm>
          <a:prstGeom prst="rect">
            <a:avLst/>
          </a:prstGeom>
          <a:solidFill>
            <a:srgbClr val="8FCB9B"/>
          </a:solidFill>
          <a:ln/>
        </p:spPr>
      </p:sp>
      <p:sp>
        <p:nvSpPr>
          <p:cNvPr id="15" name="Shape 13"/>
          <p:cNvSpPr/>
          <p:nvPr/>
        </p:nvSpPr>
        <p:spPr>
          <a:xfrm>
            <a:off x="1371600" y="2377440"/>
            <a:ext cx="429768" cy="429768"/>
          </a:xfrm>
          <a:prstGeom prst="rect">
            <a:avLst/>
          </a:prstGeom>
          <a:solidFill>
            <a:srgbClr val="8FCB9B"/>
          </a:solidFill>
          <a:ln/>
        </p:spPr>
      </p:sp>
      <p:sp>
        <p:nvSpPr>
          <p:cNvPr id="16" name="Shape 14"/>
          <p:cNvSpPr/>
          <p:nvPr/>
        </p:nvSpPr>
        <p:spPr>
          <a:xfrm>
            <a:off x="1828800" y="2377440"/>
            <a:ext cx="429768" cy="429768"/>
          </a:xfrm>
          <a:prstGeom prst="rect">
            <a:avLst/>
          </a:prstGeom>
          <a:solidFill>
            <a:srgbClr val="F5D66F"/>
          </a:solidFill>
          <a:ln/>
        </p:spPr>
      </p:sp>
      <p:sp>
        <p:nvSpPr>
          <p:cNvPr id="17" name="Shape 15"/>
          <p:cNvSpPr/>
          <p:nvPr/>
        </p:nvSpPr>
        <p:spPr>
          <a:xfrm>
            <a:off x="2286000" y="2377440"/>
            <a:ext cx="429768" cy="429768"/>
          </a:xfrm>
          <a:prstGeom prst="rect">
            <a:avLst/>
          </a:prstGeom>
          <a:solidFill>
            <a:srgbClr val="F5D66F"/>
          </a:solidFill>
          <a:ln/>
        </p:spPr>
      </p:sp>
      <p:sp>
        <p:nvSpPr>
          <p:cNvPr id="18" name="Shape 16"/>
          <p:cNvSpPr/>
          <p:nvPr/>
        </p:nvSpPr>
        <p:spPr>
          <a:xfrm>
            <a:off x="2743200" y="2377440"/>
            <a:ext cx="429768" cy="429768"/>
          </a:xfrm>
          <a:prstGeom prst="rect">
            <a:avLst/>
          </a:prstGeom>
          <a:solidFill>
            <a:srgbClr val="E88B7D"/>
          </a:solidFill>
          <a:ln/>
        </p:spPr>
      </p:sp>
      <p:sp>
        <p:nvSpPr>
          <p:cNvPr id="19" name="Shape 17"/>
          <p:cNvSpPr/>
          <p:nvPr/>
        </p:nvSpPr>
        <p:spPr>
          <a:xfrm>
            <a:off x="914400" y="1920240"/>
            <a:ext cx="429768" cy="429768"/>
          </a:xfrm>
          <a:prstGeom prst="rect">
            <a:avLst/>
          </a:prstGeom>
          <a:solidFill>
            <a:srgbClr val="8FCB9B"/>
          </a:solidFill>
          <a:ln/>
        </p:spPr>
      </p:sp>
      <p:sp>
        <p:nvSpPr>
          <p:cNvPr id="20" name="Shape 18"/>
          <p:cNvSpPr/>
          <p:nvPr/>
        </p:nvSpPr>
        <p:spPr>
          <a:xfrm>
            <a:off x="1371600" y="1920240"/>
            <a:ext cx="429768" cy="429768"/>
          </a:xfrm>
          <a:prstGeom prst="rect">
            <a:avLst/>
          </a:prstGeom>
          <a:solidFill>
            <a:srgbClr val="F5D66F"/>
          </a:solidFill>
          <a:ln/>
        </p:spPr>
      </p:sp>
      <p:sp>
        <p:nvSpPr>
          <p:cNvPr id="21" name="Shape 19"/>
          <p:cNvSpPr/>
          <p:nvPr/>
        </p:nvSpPr>
        <p:spPr>
          <a:xfrm>
            <a:off x="1828800" y="1920240"/>
            <a:ext cx="429768" cy="429768"/>
          </a:xfrm>
          <a:prstGeom prst="rect">
            <a:avLst/>
          </a:prstGeom>
          <a:solidFill>
            <a:srgbClr val="F5D66F"/>
          </a:solidFill>
          <a:ln/>
        </p:spPr>
      </p:sp>
      <p:sp>
        <p:nvSpPr>
          <p:cNvPr id="22" name="Shape 20"/>
          <p:cNvSpPr/>
          <p:nvPr/>
        </p:nvSpPr>
        <p:spPr>
          <a:xfrm>
            <a:off x="2286000" y="1920240"/>
            <a:ext cx="429768" cy="429768"/>
          </a:xfrm>
          <a:prstGeom prst="rect">
            <a:avLst/>
          </a:prstGeom>
          <a:solidFill>
            <a:srgbClr val="E88B7D"/>
          </a:solidFill>
          <a:ln/>
        </p:spPr>
      </p:sp>
      <p:sp>
        <p:nvSpPr>
          <p:cNvPr id="23" name="Shape 21"/>
          <p:cNvSpPr/>
          <p:nvPr/>
        </p:nvSpPr>
        <p:spPr>
          <a:xfrm>
            <a:off x="2743200" y="1920240"/>
            <a:ext cx="429768" cy="429768"/>
          </a:xfrm>
          <a:prstGeom prst="rect">
            <a:avLst/>
          </a:prstGeom>
          <a:solidFill>
            <a:srgbClr val="E88B7D"/>
          </a:solidFill>
          <a:ln/>
        </p:spPr>
      </p:sp>
      <p:sp>
        <p:nvSpPr>
          <p:cNvPr id="24" name="Shape 22"/>
          <p:cNvSpPr/>
          <p:nvPr/>
        </p:nvSpPr>
        <p:spPr>
          <a:xfrm>
            <a:off x="914400" y="1463040"/>
            <a:ext cx="429768" cy="429768"/>
          </a:xfrm>
          <a:prstGeom prst="rect">
            <a:avLst/>
          </a:prstGeom>
          <a:solidFill>
            <a:srgbClr val="F5D66F"/>
          </a:solidFill>
          <a:ln/>
        </p:spPr>
      </p:sp>
      <p:sp>
        <p:nvSpPr>
          <p:cNvPr id="25" name="Shape 23"/>
          <p:cNvSpPr/>
          <p:nvPr/>
        </p:nvSpPr>
        <p:spPr>
          <a:xfrm>
            <a:off x="1371600" y="1463040"/>
            <a:ext cx="429768" cy="429768"/>
          </a:xfrm>
          <a:prstGeom prst="rect">
            <a:avLst/>
          </a:prstGeom>
          <a:solidFill>
            <a:srgbClr val="F5D66F"/>
          </a:solidFill>
          <a:ln/>
        </p:spPr>
      </p:sp>
      <p:sp>
        <p:nvSpPr>
          <p:cNvPr id="26" name="Shape 24"/>
          <p:cNvSpPr/>
          <p:nvPr/>
        </p:nvSpPr>
        <p:spPr>
          <a:xfrm>
            <a:off x="1828800" y="1463040"/>
            <a:ext cx="429768" cy="429768"/>
          </a:xfrm>
          <a:prstGeom prst="rect">
            <a:avLst/>
          </a:prstGeom>
          <a:solidFill>
            <a:srgbClr val="E88B7D"/>
          </a:solidFill>
          <a:ln/>
        </p:spPr>
      </p:sp>
      <p:sp>
        <p:nvSpPr>
          <p:cNvPr id="27" name="Shape 25"/>
          <p:cNvSpPr/>
          <p:nvPr/>
        </p:nvSpPr>
        <p:spPr>
          <a:xfrm>
            <a:off x="2286000" y="1463040"/>
            <a:ext cx="429768" cy="429768"/>
          </a:xfrm>
          <a:prstGeom prst="rect">
            <a:avLst/>
          </a:prstGeom>
          <a:solidFill>
            <a:srgbClr val="E88B7D"/>
          </a:solidFill>
          <a:ln/>
        </p:spPr>
      </p:sp>
      <p:sp>
        <p:nvSpPr>
          <p:cNvPr id="28" name="Shape 26"/>
          <p:cNvSpPr/>
          <p:nvPr/>
        </p:nvSpPr>
        <p:spPr>
          <a:xfrm>
            <a:off x="2743200" y="1463040"/>
            <a:ext cx="429768" cy="429768"/>
          </a:xfrm>
          <a:prstGeom prst="rect">
            <a:avLst/>
          </a:prstGeom>
          <a:solidFill>
            <a:srgbClr val="E88B7D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→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 rot="16200000">
            <a:off x="-365760" y="2468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→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931920" y="137160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Clasifiquen estos riesgos de un e-commerce en nube (grupos de 3-4, 5 min):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931920" y="198424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3931920" y="1984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434840" y="193852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de administrador filtradas en un repositorio público.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931920" y="2551176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3931920" y="2551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434840" y="250545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 con imagen base vulnerable en producción.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931920" y="3118104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9" name="Text 37"/>
          <p:cNvSpPr/>
          <p:nvPr/>
        </p:nvSpPr>
        <p:spPr>
          <a:xfrm>
            <a:off x="3931920" y="3118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434840" y="307238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Caída regional del proveedor de nube.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931920" y="368503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2" name="Text 40"/>
          <p:cNvSpPr/>
          <p:nvPr/>
        </p:nvSpPr>
        <p:spPr>
          <a:xfrm>
            <a:off x="3931920" y="3685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434840" y="363931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Empleado con permisos excesivos que ya cambió de rol.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931920" y="429768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Discusión: </a:t>
            </a:r>
            <a:pPr indent="0" marL="0">
              <a:buNone/>
            </a:pPr>
            <a:r>
              <a:rPr lang="en-US" sz="12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tratamiento aplica a cada uno — mitigar, transferir, aceptar o evitar?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RIESGOS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riesgos en la nube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632204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434" y="1720718"/>
            <a:ext cx="225308" cy="2253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9848" y="1417320"/>
            <a:ext cx="7571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riesgo se comparte, pero no se transfiere por completo. </a:t>
            </a:r>
            <a:pPr indent="0" marL="0">
              <a:buNone/>
            </a:pPr>
            <a:r>
              <a:rPr lang="en-US" sz="14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proveedor asume capas de la pila; la responsabilidad final sobre datos e identidades sigue siendo tuya.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2500884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34" y="2589398"/>
            <a:ext cx="225308" cy="2253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69848" y="2286000"/>
            <a:ext cx="7571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Nuevos vectores propios de la nube. </a:t>
            </a:r>
            <a:pPr indent="0" marL="0">
              <a:buNone/>
            </a:pPr>
            <a:r>
              <a:rPr lang="en-US" sz="14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Identidades sobre-privilegiadas, APIs expuestas, shadow IT y mala configuración de servicios.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02920" y="3369564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34" y="3458078"/>
            <a:ext cx="225308" cy="2253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69848" y="3154680"/>
            <a:ext cx="7571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riesgo alimenta las decisiones técnicas. </a:t>
            </a:r>
            <a:pPr indent="0" marL="0">
              <a:buNone/>
            </a:pPr>
            <a:r>
              <a:rPr lang="en-US" sz="14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modelar primero? ¿Dónde invertir en controles? La priorización sale de aquí.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02920" y="4069080"/>
            <a:ext cx="8138160" cy="658368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14" name="Text 9"/>
          <p:cNvSpPr/>
          <p:nvPr/>
        </p:nvSpPr>
        <p:spPr>
          <a:xfrm>
            <a:off x="731520" y="406908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 →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amenazas de forma estructurada: Threat Modeling.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-1463040"/>
            <a:ext cx="4206240" cy="4206240"/>
          </a:xfrm>
          <a:prstGeom prst="ellipse">
            <a:avLst/>
          </a:prstGeom>
          <a:solidFill>
            <a:srgbClr val="CADCFC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3566160"/>
            <a:ext cx="3291840" cy="3291840"/>
          </a:xfrm>
          <a:prstGeom prst="ellipse">
            <a:avLst/>
          </a:prstGeom>
          <a:solidFill>
            <a:srgbClr val="2EC4B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Modeling: Fundamentos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02920" y="3246120"/>
            <a:ext cx="1417320" cy="411480"/>
          </a:xfrm>
          <a:prstGeom prst="roundRect">
            <a:avLst>
              <a:gd name="adj" fmla="val 48889"/>
            </a:avLst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32461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903720" y="1691640"/>
            <a:ext cx="1554480" cy="1554480"/>
          </a:xfrm>
          <a:prstGeom prst="ellipse">
            <a:avLst/>
          </a:prstGeom>
          <a:solidFill>
            <a:srgbClr val="2EC4B6">
              <a:alpha val="22000"/>
            </a:srgbClr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12" y="2084832"/>
            <a:ext cx="768096" cy="76809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el threat modeling?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8138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estructurado para identificar, enumerar y priorizar amenazas ANTES de que ocurran, idealmente en fase de diseño (shift-left).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actividad de seguridad con mejor relación costo/beneficio: corregir en diseño cuesta órdenes de magnitud menos que en producción.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Encaja en la fase Plan/Design del pipeline DevSecOps que estructura este curso.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3657600"/>
            <a:ext cx="1600200" cy="502920"/>
          </a:xfrm>
          <a:prstGeom prst="roundRect">
            <a:avLst>
              <a:gd name="adj" fmla="val 16364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36576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1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/ Design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231136" y="3657600"/>
            <a:ext cx="1051560" cy="502920"/>
          </a:xfrm>
          <a:prstGeom prst="roundRect">
            <a:avLst>
              <a:gd name="adj" fmla="val 16364"/>
            </a:avLst>
          </a:prstGeom>
          <a:solidFill>
            <a:srgbClr val="E4EEFB"/>
          </a:solidFill>
          <a:ln/>
        </p:spPr>
      </p:sp>
      <p:sp>
        <p:nvSpPr>
          <p:cNvPr id="8" name="Text 6"/>
          <p:cNvSpPr/>
          <p:nvPr/>
        </p:nvSpPr>
        <p:spPr>
          <a:xfrm>
            <a:off x="2231136" y="36576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10712" y="3657600"/>
            <a:ext cx="1051560" cy="502920"/>
          </a:xfrm>
          <a:prstGeom prst="roundRect">
            <a:avLst>
              <a:gd name="adj" fmla="val 16364"/>
            </a:avLst>
          </a:prstGeom>
          <a:solidFill>
            <a:srgbClr val="E4EEFB"/>
          </a:solidFill>
          <a:ln/>
        </p:spPr>
      </p:sp>
      <p:sp>
        <p:nvSpPr>
          <p:cNvPr id="10" name="Text 8"/>
          <p:cNvSpPr/>
          <p:nvPr/>
        </p:nvSpPr>
        <p:spPr>
          <a:xfrm>
            <a:off x="3410712" y="36576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90288" y="3657600"/>
            <a:ext cx="1051560" cy="502920"/>
          </a:xfrm>
          <a:prstGeom prst="roundRect">
            <a:avLst>
              <a:gd name="adj" fmla="val 16364"/>
            </a:avLst>
          </a:prstGeom>
          <a:solidFill>
            <a:srgbClr val="E4EEFB"/>
          </a:solidFill>
          <a:ln/>
        </p:spPr>
      </p:sp>
      <p:sp>
        <p:nvSpPr>
          <p:cNvPr id="12" name="Text 10"/>
          <p:cNvSpPr/>
          <p:nvPr/>
        </p:nvSpPr>
        <p:spPr>
          <a:xfrm>
            <a:off x="4590288" y="36576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769864" y="3657600"/>
            <a:ext cx="1143000" cy="502920"/>
          </a:xfrm>
          <a:prstGeom prst="roundRect">
            <a:avLst>
              <a:gd name="adj" fmla="val 16364"/>
            </a:avLst>
          </a:prstGeom>
          <a:solidFill>
            <a:srgbClr val="E4EEFB"/>
          </a:solidFill>
          <a:ln/>
        </p:spPr>
      </p:sp>
      <p:sp>
        <p:nvSpPr>
          <p:cNvPr id="14" name="Text 12"/>
          <p:cNvSpPr/>
          <p:nvPr/>
        </p:nvSpPr>
        <p:spPr>
          <a:xfrm>
            <a:off x="5769864" y="36576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040880" y="3657600"/>
            <a:ext cx="1234440" cy="502920"/>
          </a:xfrm>
          <a:prstGeom prst="roundRect">
            <a:avLst>
              <a:gd name="adj" fmla="val 16364"/>
            </a:avLst>
          </a:prstGeom>
          <a:solidFill>
            <a:srgbClr val="E4EEFB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0" y="36576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431596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threat modeling vive aquí — antes de escribir la primera línea de código.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4 preguntas (Shostack, adoptado por OWASP)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50208" cy="1481328"/>
          </a:xfrm>
          <a:prstGeom prst="roundRect">
            <a:avLst>
              <a:gd name="adj" fmla="val 5556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54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80160" y="1527048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estamos construyendo?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2103120"/>
            <a:ext cx="2990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de arquitectura y de flujo de datos (DFD).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90872" y="1371600"/>
            <a:ext cx="3950208" cy="1481328"/>
          </a:xfrm>
          <a:prstGeom prst="roundRect">
            <a:avLst>
              <a:gd name="adj" fmla="val 5556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73752" y="1554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873752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468112" y="1527048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puede salir mal?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68112" y="2103120"/>
            <a:ext cx="2990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de amenazas: aquí entran STRIDE y otras taxonomías.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108960"/>
            <a:ext cx="3950208" cy="1481328"/>
          </a:xfrm>
          <a:prstGeom prst="roundRect">
            <a:avLst>
              <a:gd name="adj" fmla="val 5556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32918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280160" y="3264408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vamos a hacer al respecto?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3840480"/>
            <a:ext cx="2990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y mitigaciones, priorizados como backlog.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90872" y="3108960"/>
            <a:ext cx="3950208" cy="1481328"/>
          </a:xfrm>
          <a:prstGeom prst="roundRect">
            <a:avLst>
              <a:gd name="adj" fmla="val 5556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73752" y="32918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4873752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468112" y="3264408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¿Lo hicimos bien?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68112" y="3840480"/>
            <a:ext cx="2990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y revisión continua del modelo.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insumo: Data Flow Diagram (DFD)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08176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434" y="1496690"/>
            <a:ext cx="225308" cy="2253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9848" y="1298448"/>
            <a:ext cx="4370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externas. </a:t>
            </a:r>
            <a:pPr indent="0" marL="0">
              <a:buNone/>
            </a:pPr>
            <a:r>
              <a:rPr lang="en-US" sz="12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Usuarios, sistemas de terceros — todo lo que interactúa desde afuera.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02920" y="2066544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34" y="2155058"/>
            <a:ext cx="225308" cy="2253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69848" y="1956816"/>
            <a:ext cx="4370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Procesos. </a:t>
            </a:r>
            <a:pPr indent="0" marL="0">
              <a:buNone/>
            </a:pPr>
            <a:r>
              <a:rPr lang="en-US" sz="12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Servicios, APIs, microservicios: el código que transforma datos.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02920" y="2724912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34" y="2813426"/>
            <a:ext cx="225308" cy="2253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69848" y="2615184"/>
            <a:ext cx="4370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Almacenes de datos. </a:t>
            </a:r>
            <a:pPr indent="0" marL="0">
              <a:buNone/>
            </a:pPr>
            <a:r>
              <a:rPr lang="en-US" sz="12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de datos, colas, blobs.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502920" y="3383280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434" y="3471794"/>
            <a:ext cx="225308" cy="2253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69848" y="3273552"/>
            <a:ext cx="4370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de datos. </a:t>
            </a:r>
            <a:pPr indent="0" marL="0">
              <a:buNone/>
            </a:pPr>
            <a:r>
              <a:rPr lang="en-US" sz="12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Llamadas y mensajes entre elementos.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502920" y="4023360"/>
            <a:ext cx="8138160" cy="713232"/>
          </a:xfrm>
          <a:prstGeom prst="roundRect">
            <a:avLst>
              <a:gd name="adj" fmla="val 11538"/>
            </a:avLst>
          </a:prstGeom>
          <a:solidFill>
            <a:srgbClr val="FBEED3"/>
          </a:solidFill>
          <a:ln/>
        </p:spPr>
      </p:sp>
      <p:sp>
        <p:nvSpPr>
          <p:cNvPr id="17" name="Text 11"/>
          <p:cNvSpPr/>
          <p:nvPr/>
        </p:nvSpPr>
        <p:spPr>
          <a:xfrm>
            <a:off x="731520" y="40233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Límites de confianza (trust boundaries): </a:t>
            </a:r>
            <a:pPr indent="0" marL="0">
              <a:buNone/>
            </a:pPr>
            <a:r>
              <a:rPr lang="en-US" sz="1300" dirty="0">
                <a:solidFill>
                  <a:srgbClr val="8A6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cambia el nivel de privilegio. Ahí se concentran las amenazas.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5806440" y="1920240"/>
            <a:ext cx="777240" cy="566928"/>
          </a:xfrm>
          <a:prstGeom prst="ellipse">
            <a:avLst/>
          </a:prstGeom>
          <a:solidFill>
            <a:srgbClr val="E4EE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5806440" y="192024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9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6832" y="2121408"/>
            <a:ext cx="164592" cy="164592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6903720" y="1920240"/>
            <a:ext cx="822960" cy="566928"/>
          </a:xfrm>
          <a:prstGeom prst="roundRect">
            <a:avLst>
              <a:gd name="adj" fmla="val 12903"/>
            </a:avLst>
          </a:prstGeom>
          <a:solidFill>
            <a:srgbClr val="E2F6F3"/>
          </a:solidFill>
          <a:ln w="12700">
            <a:solidFill>
              <a:srgbClr val="0F9488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6903720" y="192024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9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9832" y="2121408"/>
            <a:ext cx="164592" cy="164592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8028432" y="1920240"/>
            <a:ext cx="594360" cy="566928"/>
          </a:xfrm>
          <a:prstGeom prst="rect">
            <a:avLst/>
          </a:prstGeom>
          <a:solidFill>
            <a:srgbClr val="DCE6F8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17"/>
          <p:cNvSpPr/>
          <p:nvPr/>
        </p:nvSpPr>
        <p:spPr>
          <a:xfrm>
            <a:off x="8028432" y="1920240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</a:t>
            </a:r>
            <a:endParaRPr lang="en-US" sz="900" dirty="0"/>
          </a:p>
        </p:txBody>
      </p:sp>
      <p:sp>
        <p:nvSpPr>
          <p:cNvPr id="26" name="Shape 18"/>
          <p:cNvSpPr/>
          <p:nvPr/>
        </p:nvSpPr>
        <p:spPr>
          <a:xfrm>
            <a:off x="6784848" y="1600200"/>
            <a:ext cx="0" cy="1234440"/>
          </a:xfrm>
          <a:prstGeom prst="line">
            <a:avLst/>
          </a:prstGeom>
          <a:noFill/>
          <a:ln w="19050">
            <a:solidFill>
              <a:srgbClr val="E9A03B"/>
            </a:solidFill>
            <a:prstDash val="dash"/>
          </a:ln>
        </p:spPr>
      </p:sp>
      <p:sp>
        <p:nvSpPr>
          <p:cNvPr id="27" name="Text 19"/>
          <p:cNvSpPr/>
          <p:nvPr/>
        </p:nvSpPr>
        <p:spPr>
          <a:xfrm>
            <a:off x="6053328" y="2880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6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boundary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-1463040"/>
            <a:ext cx="4206240" cy="4206240"/>
          </a:xfrm>
          <a:prstGeom prst="ellipse">
            <a:avLst/>
          </a:prstGeom>
          <a:solidFill>
            <a:srgbClr val="CADCFC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3566160"/>
            <a:ext cx="3291840" cy="3291840"/>
          </a:xfrm>
          <a:prstGeom prst="ellipse">
            <a:avLst/>
          </a:prstGeom>
          <a:solidFill>
            <a:srgbClr val="2EC4B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Metodología STRIDE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02920" y="3246120"/>
            <a:ext cx="1417320" cy="411480"/>
          </a:xfrm>
          <a:prstGeom prst="roundRect">
            <a:avLst>
              <a:gd name="adj" fmla="val 48889"/>
            </a:avLst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32461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903720" y="1691640"/>
            <a:ext cx="1554480" cy="1554480"/>
          </a:xfrm>
          <a:prstGeom prst="ellipse">
            <a:avLst/>
          </a:prstGeom>
          <a:solidFill>
            <a:srgbClr val="2EC4B6">
              <a:alpha val="22000"/>
            </a:srgbClr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12" y="2084832"/>
            <a:ext cx="768096" cy="76809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categorías, seis propiedades violadas</a:t>
            </a:r>
            <a:endParaRPr lang="en-US" sz="2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813816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286000"/>
                <a:gridCol w="1737360"/>
                <a:gridCol w="34747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Amenaza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Propiedad violada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Spoofing (suplantación)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Autenticación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robado para hacerse pasar por un usuario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Tampering (manipulación)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Alterar un mensaje en tránsito o un registro en BD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Repudiation (repudio)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repudio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Usuario niega una transacción y no hay logs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 Disclosure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Confidencialidad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Blob de almacenamiento público con datos de clientes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Denial of Service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Disponibilidad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Saturar una API sin rate limiting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Elevation of Privilege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Autorización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Explotar un contenedor para ganar acceso al nodo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43484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Creada por Microsoft. Cada letra ataca una propiedad de seguridad distinta.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guiado: aplicación web de pagos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07008"/>
            <a:ext cx="1188720" cy="438912"/>
          </a:xfrm>
          <a:prstGeom prst="roundRect">
            <a:avLst>
              <a:gd name="adj" fmla="val 18750"/>
            </a:avLst>
          </a:prstGeom>
          <a:solidFill>
            <a:srgbClr val="E4EEF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0700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5104" y="1344168"/>
            <a:ext cx="164592" cy="1645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31136" y="1207008"/>
            <a:ext cx="2103120" cy="438912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2231136" y="1207008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web (App Service)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44168"/>
            <a:ext cx="164592" cy="16459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645152" y="1207008"/>
            <a:ext cx="1965960" cy="438912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11" name="Text 7"/>
          <p:cNvSpPr/>
          <p:nvPr/>
        </p:nvSpPr>
        <p:spPr>
          <a:xfrm>
            <a:off x="4645152" y="120700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pagos (AKS)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976" y="1344168"/>
            <a:ext cx="164592" cy="16459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922008" y="1207008"/>
            <a:ext cx="1463040" cy="438912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14" name="Text 9"/>
          <p:cNvSpPr/>
          <p:nvPr/>
        </p:nvSpPr>
        <p:spPr>
          <a:xfrm>
            <a:off x="6922008" y="120700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SQL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02920" y="1874520"/>
            <a:ext cx="2596896" cy="1234440"/>
          </a:xfrm>
          <a:prstGeom prst="roundRect">
            <a:avLst>
              <a:gd name="adj" fmla="val 5926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40080" y="20116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2"/>
          <p:cNvSpPr/>
          <p:nvPr/>
        </p:nvSpPr>
        <p:spPr>
          <a:xfrm>
            <a:off x="64008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124712" y="1965960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de credenciales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640080" y="2587752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Mitigar: </a:t>
            </a:r>
            <a:pPr indent="0" marL="0">
              <a:buNone/>
            </a:pPr>
            <a:r>
              <a:rPr lang="en-US" sz="10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3273552" y="1874520"/>
            <a:ext cx="2596896" cy="1234440"/>
          </a:xfrm>
          <a:prstGeom prst="roundRect">
            <a:avLst>
              <a:gd name="adj" fmla="val 5926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410712" y="20116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17"/>
          <p:cNvSpPr/>
          <p:nvPr/>
        </p:nvSpPr>
        <p:spPr>
          <a:xfrm>
            <a:off x="3410712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3895344" y="1965960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Manipular parámetros de la petición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3410712" y="2587752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Mitigar: </a:t>
            </a:r>
            <a:pPr indent="0" marL="0">
              <a:buNone/>
            </a:pPr>
            <a:r>
              <a:rPr lang="en-US" sz="10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server-side, TLS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044184" y="1874520"/>
            <a:ext cx="2596896" cy="1234440"/>
          </a:xfrm>
          <a:prstGeom prst="roundRect">
            <a:avLst>
              <a:gd name="adj" fmla="val 5926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181344" y="20116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2"/>
          <p:cNvSpPr/>
          <p:nvPr/>
        </p:nvSpPr>
        <p:spPr>
          <a:xfrm>
            <a:off x="6181344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665976" y="1965960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Disputa de transacciones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6181344" y="2587752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Mitigar: </a:t>
            </a:r>
            <a:pPr indent="0" marL="0">
              <a:buNone/>
            </a:pPr>
            <a:r>
              <a:rPr lang="en-US" sz="10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firmado, auditoría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502920" y="3291840"/>
            <a:ext cx="2596896" cy="1234440"/>
          </a:xfrm>
          <a:prstGeom prst="roundRect">
            <a:avLst>
              <a:gd name="adj" fmla="val 5926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640080" y="34290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27"/>
          <p:cNvSpPr/>
          <p:nvPr/>
        </p:nvSpPr>
        <p:spPr>
          <a:xfrm>
            <a:off x="64008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124712" y="3383280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de datos de tarjeta</a:t>
            </a:r>
            <a:endParaRPr lang="en-US" sz="1050" dirty="0"/>
          </a:p>
        </p:txBody>
      </p:sp>
      <p:sp>
        <p:nvSpPr>
          <p:cNvPr id="34" name="Text 29"/>
          <p:cNvSpPr/>
          <p:nvPr/>
        </p:nvSpPr>
        <p:spPr>
          <a:xfrm>
            <a:off x="640080" y="4005072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Mitigar: </a:t>
            </a:r>
            <a:pPr indent="0" marL="0">
              <a:buNone/>
            </a:pPr>
            <a:r>
              <a:rPr lang="en-US" sz="10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Cifrado, tokenización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3273552" y="3291840"/>
            <a:ext cx="2596896" cy="1234440"/>
          </a:xfrm>
          <a:prstGeom prst="roundRect">
            <a:avLst>
              <a:gd name="adj" fmla="val 5926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3410712" y="34290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7" name="Text 32"/>
          <p:cNvSpPr/>
          <p:nvPr/>
        </p:nvSpPr>
        <p:spPr>
          <a:xfrm>
            <a:off x="3410712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38" name="Text 33"/>
          <p:cNvSpPr/>
          <p:nvPr/>
        </p:nvSpPr>
        <p:spPr>
          <a:xfrm>
            <a:off x="3895344" y="3383280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de solicitudes</a:t>
            </a:r>
            <a:endParaRPr lang="en-US" sz="1050" dirty="0"/>
          </a:p>
        </p:txBody>
      </p:sp>
      <p:sp>
        <p:nvSpPr>
          <p:cNvPr id="39" name="Text 34"/>
          <p:cNvSpPr/>
          <p:nvPr/>
        </p:nvSpPr>
        <p:spPr>
          <a:xfrm>
            <a:off x="3410712" y="4005072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Mitigar: </a:t>
            </a:r>
            <a:pPr indent="0" marL="0">
              <a:buNone/>
            </a:pPr>
            <a:r>
              <a:rPr lang="en-US" sz="10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WAF, rate limiting, autoscaling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6044184" y="3291840"/>
            <a:ext cx="2596896" cy="1234440"/>
          </a:xfrm>
          <a:prstGeom prst="roundRect">
            <a:avLst>
              <a:gd name="adj" fmla="val 5926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41" name="Shape 36"/>
          <p:cNvSpPr/>
          <p:nvPr/>
        </p:nvSpPr>
        <p:spPr>
          <a:xfrm>
            <a:off x="6181344" y="34290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2" name="Text 37"/>
          <p:cNvSpPr/>
          <p:nvPr/>
        </p:nvSpPr>
        <p:spPr>
          <a:xfrm>
            <a:off x="6181344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500" dirty="0"/>
          </a:p>
        </p:txBody>
      </p:sp>
      <p:sp>
        <p:nvSpPr>
          <p:cNvPr id="43" name="Text 38"/>
          <p:cNvSpPr/>
          <p:nvPr/>
        </p:nvSpPr>
        <p:spPr>
          <a:xfrm>
            <a:off x="6665976" y="3383280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Inyección SQL</a:t>
            </a:r>
            <a:endParaRPr lang="en-US" sz="1050" dirty="0"/>
          </a:p>
        </p:txBody>
      </p:sp>
      <p:sp>
        <p:nvSpPr>
          <p:cNvPr id="44" name="Text 39"/>
          <p:cNvSpPr/>
          <p:nvPr/>
        </p:nvSpPr>
        <p:spPr>
          <a:xfrm>
            <a:off x="6181344" y="4005072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Mitigar: </a:t>
            </a:r>
            <a:pPr indent="0" marL="0">
              <a:buNone/>
            </a:pPr>
            <a:r>
              <a:rPr lang="en-US" sz="10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parametrizadas, least privilege</a:t>
            </a:r>
            <a:endParaRPr lang="en-US" sz="1000" dirty="0"/>
          </a:p>
        </p:txBody>
      </p:sp>
      <p:sp>
        <p:nvSpPr>
          <p:cNvPr id="45" name="Text 40"/>
          <p:cNvSpPr/>
          <p:nvPr/>
        </p:nvSpPr>
        <p:spPr>
          <a:xfrm>
            <a:off x="502920" y="452628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aplicado al flujo Usuario → App web.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por elemento y herramienta de apoyo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4892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se aplica POR ELEMENTO del DFD: no todas las amenazas aplican a todos los elementos.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spoofing aplica a entidades y procesos; tampering a flujos y almacenes de datos.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esperada: lista de amenazas priorizada que alimenta el backlog — cada amenaza se gestiona como un riesgo (Bloque 3).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0" y="1371600"/>
            <a:ext cx="2971800" cy="2651760"/>
          </a:xfrm>
          <a:prstGeom prst="roundRect">
            <a:avLst>
              <a:gd name="adj" fmla="val 310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897880" y="16002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8522" y="1710842"/>
            <a:ext cx="281635" cy="28163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897880" y="224028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Threat Modeling Tool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897880" y="2852928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Gratuita. Dibujas el DFD y genera amenazas STRIDE automáticamente.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autónomo: explorarla antes de la próxima sesión.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02920" y="43434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continuación: el mismo escenario, ahora con el proceso OWASP.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-1463040"/>
            <a:ext cx="4206240" cy="4206240"/>
          </a:xfrm>
          <a:prstGeom prst="ellipse">
            <a:avLst/>
          </a:prstGeom>
          <a:solidFill>
            <a:srgbClr val="CADCFC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3566160"/>
            <a:ext cx="3291840" cy="3291840"/>
          </a:xfrm>
          <a:prstGeom prst="ellipse">
            <a:avLst/>
          </a:prstGeom>
          <a:solidFill>
            <a:srgbClr val="2EC4B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Metodología OWASP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02920" y="3246120"/>
            <a:ext cx="1417320" cy="411480"/>
          </a:xfrm>
          <a:prstGeom prst="roundRect">
            <a:avLst>
              <a:gd name="adj" fmla="val 48889"/>
            </a:avLst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32461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903720" y="1691640"/>
            <a:ext cx="1554480" cy="1554480"/>
          </a:xfrm>
          <a:prstGeom prst="ellipse">
            <a:avLst/>
          </a:prstGeom>
          <a:solidFill>
            <a:srgbClr val="2EC4B6">
              <a:alpha val="22000"/>
            </a:srgbClr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12" y="2084832"/>
            <a:ext cx="768096" cy="76809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enfoque OWASP de threat modeling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8138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no impone una técnica única: promueve el marco de las 4 preguntas más los principios del Threat Modeling Manifesto.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del manifiesto: hacerlo temprano, hacerlo continuo, colaborativo — y mejor hecho que perfecto.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743200"/>
            <a:ext cx="2596896" cy="1828800"/>
          </a:xfrm>
          <a:prstGeom prst="roundRect">
            <a:avLst>
              <a:gd name="adj" fmla="val 450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29260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302666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456432"/>
            <a:ext cx="223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Threat Dragon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85800" y="3785616"/>
            <a:ext cx="2231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open source: diagramas DFD + registro de amenazas con estado.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73552" y="2743200"/>
            <a:ext cx="2596896" cy="1828800"/>
          </a:xfrm>
          <a:prstGeom prst="roundRect">
            <a:avLst>
              <a:gd name="adj" fmla="val 450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56432" y="29260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7016" y="3026664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56432" y="3456432"/>
            <a:ext cx="223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456432" y="3785616"/>
            <a:ext cx="2231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las amenazas más frecuentes en aplicaciones web.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044184" y="2743200"/>
            <a:ext cx="2596896" cy="1828800"/>
          </a:xfrm>
          <a:prstGeom prst="roundRect">
            <a:avLst>
              <a:gd name="adj" fmla="val 450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27064" y="29260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3026664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27064" y="3456432"/>
            <a:ext cx="223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ASVS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227064" y="3785616"/>
            <a:ext cx="2231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controles de verificación para validar mitigaciones.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guiado con Threat Dragon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escenario de pagos, ahora con el proceso OWASP: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719072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7190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645920"/>
            <a:ext cx="7452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Alcance.  </a:t>
            </a:r>
            <a:pPr indent="0" marL="0">
              <a:buNone/>
            </a:pPr>
            <a:r>
              <a:rPr lang="en-US" sz="13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en Threat Dragon con trust boundaries: Internet ↔ App ↔ backend ↔ datos.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478024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478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404872"/>
            <a:ext cx="7452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Identificación.  </a:t>
            </a:r>
            <a:pPr indent="0" marL="0">
              <a:buNone/>
            </a:pPr>
            <a:r>
              <a:rPr lang="en-US" sz="13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cada elemento se registran amenazas — soporta STRIDE, CIA o LINDDUN como taxonomía.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3236976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236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3163824"/>
            <a:ext cx="7452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Priorización.  </a:t>
            </a:r>
            <a:pPr indent="0" marL="0">
              <a:buNone/>
            </a:pPr>
            <a:r>
              <a:rPr lang="en-US" sz="13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Severidad alta / media / baja por amenaza.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3995928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995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3922776"/>
            <a:ext cx="7452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Mitigación.  </a:t>
            </a:r>
            <a:pPr indent="0" marL="0">
              <a:buNone/>
            </a:pPr>
            <a:r>
              <a:rPr lang="en-US" sz="13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amenaza queda con estado (abierta / mitigada / aceptada): trazabilidad directa al backlog del equipo.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Cruce con OWASP Top 10 (2021)</a:t>
            </a:r>
            <a:endParaRPr lang="en-US" sz="26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81381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8463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Categoría Top 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nuestro ejemplo de pagos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A01 · Broken Access Control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Elevación de privilegios (la E de STRIDE)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A02 · Cryptographic Failures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Exposición de datos de tarjeta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A03 · Injection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Inyección SQL en la API de pagos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A05 · Security Misconfiguration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Blob público, contenedores mal configurados — ¡lo veremos en el lab con Defender for Cloud!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A07 · Identification &amp; Auth. Failures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Spoofing de credenciales (la S de STRIDE)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3434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Top 10 funciona como checklist de amenazas conocidas para complementar el modelo.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vs. OWASP: ¿cuál usar?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950208" cy="2148840"/>
          </a:xfrm>
          <a:prstGeom prst="roundRect">
            <a:avLst>
              <a:gd name="adj" fmla="val 383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52704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627632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481328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1520" y="2148840"/>
            <a:ext cx="34930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Taxonomía sistemática por elemento del DFD.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Excelente para no olvidar ninguna categoría de amenaza.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90872" y="1325880"/>
            <a:ext cx="3950208" cy="2148840"/>
          </a:xfrm>
          <a:prstGeom prst="roundRect">
            <a:avLst>
              <a:gd name="adj" fmla="val 383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92040" y="1527048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624" y="162763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68112" y="1481328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(4 preguntas + Threat Dragon + Top 10)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919472" y="2148840"/>
            <a:ext cx="34930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ligero, colaborativo y continuo.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Excelente para equipos ágiles / DevSecOps.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02920" y="37033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práctica se combinan: </a:t>
            </a:r>
            <a:pPr algn="ctr" indent="0" marL="0">
              <a:buNone/>
            </a:pPr>
            <a:r>
              <a:rPr lang="en-US" sz="14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OWASP con taxonomía STRIDE.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02920" y="4160520"/>
            <a:ext cx="8138160" cy="621792"/>
          </a:xfrm>
          <a:prstGeom prst="roundRect">
            <a:avLst>
              <a:gd name="adj" fmla="val 13235"/>
            </a:avLst>
          </a:prstGeom>
          <a:solidFill>
            <a:srgbClr val="1E2761"/>
          </a:solidFill>
          <a:ln/>
        </p:spPr>
      </p:sp>
      <p:sp>
        <p:nvSpPr>
          <p:cNvPr id="16" name="Text 12"/>
          <p:cNvSpPr/>
          <p:nvPr/>
        </p:nvSpPr>
        <p:spPr>
          <a:xfrm>
            <a:off x="731520" y="4160520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 →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threat modeling dice qué puede salir mal; Zero Trust define la arquitectura que asume que algo saldrá mal.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-1463040"/>
            <a:ext cx="4206240" cy="4206240"/>
          </a:xfrm>
          <a:prstGeom prst="ellipse">
            <a:avLst/>
          </a:prstGeom>
          <a:solidFill>
            <a:srgbClr val="CADCFC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3566160"/>
            <a:ext cx="3291840" cy="3291840"/>
          </a:xfrm>
          <a:prstGeom prst="ellipse">
            <a:avLst/>
          </a:prstGeom>
          <a:solidFill>
            <a:srgbClr val="2EC4B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en Profundidad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02920" y="3246120"/>
            <a:ext cx="1417320" cy="411480"/>
          </a:xfrm>
          <a:prstGeom prst="roundRect">
            <a:avLst>
              <a:gd name="adj" fmla="val 48889"/>
            </a:avLst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32461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03120" y="32461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empezar: descanso de 10 minutos ☕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03720" y="1691640"/>
            <a:ext cx="1554480" cy="1554480"/>
          </a:xfrm>
          <a:prstGeom prst="ellipse">
            <a:avLst/>
          </a:prstGeom>
          <a:solidFill>
            <a:srgbClr val="2EC4B6">
              <a:alpha val="22000"/>
            </a:srgbClr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12" y="2084832"/>
            <a:ext cx="768096" cy="76809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perímetro al Zero Trust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950208" cy="2331720"/>
          </a:xfrm>
          <a:prstGeom prst="roundRect">
            <a:avLst>
              <a:gd name="adj" fmla="val 3529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81328"/>
            <a:ext cx="3493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tradicional: castillo y foso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4930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está dentro de la red corporativa es confiable.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 modelo se rompió: trabajo remoto, nube híbrida, SaaS, dispositivos móviles, APIs.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B04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perímetro ya no existe.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90872" y="1325880"/>
            <a:ext cx="3950208" cy="2331720"/>
          </a:xfrm>
          <a:prstGeom prst="roundRect">
            <a:avLst>
              <a:gd name="adj" fmla="val 352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19472" y="1481328"/>
            <a:ext cx="3493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919472" y="1920240"/>
            <a:ext cx="34930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“Never trust, always verify.”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solicitud se verifica como si viniera de una red no controlada, sin importar su origen.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9776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es una estrategia, no un producto que se compra.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principios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596896" cy="3108960"/>
          </a:xfrm>
          <a:prstGeom prst="roundRect">
            <a:avLst>
              <a:gd name="adj" fmla="val 3169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72184" y="1627632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6776" y="1792224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395728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Verificar explícitamente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04088" y="283464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Autenticar y autorizar siempre con base en todos los datos disponibles: identidad, ubicación, salud del dispositivo, clasificación del dato, anomalías.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73552" y="1371600"/>
            <a:ext cx="2596896" cy="3108960"/>
          </a:xfrm>
          <a:prstGeom prst="roundRect">
            <a:avLst>
              <a:gd name="adj" fmla="val 3169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42816" y="1627632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1792224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10712" y="2395728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Menor privilegio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474720" y="283464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Limitar el acceso con Just-In-Time y Just-Enough-Access (JIT/JEA) y políticas adaptativas basadas en riesgo.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44184" y="1371600"/>
            <a:ext cx="2596896" cy="3108960"/>
          </a:xfrm>
          <a:prstGeom prst="roundRect">
            <a:avLst>
              <a:gd name="adj" fmla="val 3169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13448" y="1627632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792224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81344" y="2395728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Asumir la brecha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245352" y="283464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Minimizar el radio de impacto (blast radius), segmentar accesos, cifrar extremo a extremo y usar analítica para detectar y mejorar.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seis pilares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2596896" cy="1572768"/>
          </a:xfrm>
          <a:prstGeom prst="roundRect">
            <a:avLst>
              <a:gd name="adj" fmla="val 5233"/>
            </a:avLst>
          </a:prstGeom>
          <a:solidFill>
            <a:srgbClr val="E2F6F3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435608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761" y="1528145"/>
            <a:ext cx="235549" cy="2355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435608"/>
            <a:ext cx="1819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9224" y="1911096"/>
            <a:ext cx="23042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nuevo plano de control: MFA, acceso condicional. Toda decisión de acceso empieza aquí.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73552" y="1298448"/>
            <a:ext cx="2596896" cy="1572768"/>
          </a:xfrm>
          <a:prstGeom prst="roundRect">
            <a:avLst>
              <a:gd name="adj" fmla="val 5233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19856" y="1435608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2393" y="1528145"/>
            <a:ext cx="235549" cy="2355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13632" y="1435608"/>
            <a:ext cx="1819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419856" y="1911096"/>
            <a:ext cx="23042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 y cumplimiento del dispositivo como condición de acceso.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44184" y="1298448"/>
            <a:ext cx="2596896" cy="1572768"/>
          </a:xfrm>
          <a:prstGeom prst="roundRect">
            <a:avLst>
              <a:gd name="adj" fmla="val 5233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90488" y="1435608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3025" y="1528145"/>
            <a:ext cx="235549" cy="2355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84264" y="1435608"/>
            <a:ext cx="1819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190488" y="1911096"/>
            <a:ext cx="23042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 de shadow IT, permisos apropiados, monitoreo de anomalías.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02920" y="3072384"/>
            <a:ext cx="2596896" cy="1572768"/>
          </a:xfrm>
          <a:prstGeom prst="roundRect">
            <a:avLst>
              <a:gd name="adj" fmla="val 5233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" y="3209544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761" y="3302081"/>
            <a:ext cx="235549" cy="23554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43000" y="3209544"/>
            <a:ext cx="1819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49224" y="3685032"/>
            <a:ext cx="23042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Clasificar, etiquetar, cifrar: la protección viaja con el dato, no con la red.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273552" y="3072384"/>
            <a:ext cx="2596896" cy="1572768"/>
          </a:xfrm>
          <a:prstGeom prst="roundRect">
            <a:avLst>
              <a:gd name="adj" fmla="val 5233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19856" y="3209544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2393" y="3302081"/>
            <a:ext cx="235549" cy="23554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13632" y="3209544"/>
            <a:ext cx="1819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419856" y="3685032"/>
            <a:ext cx="23042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Hardening, configuración como código, detección de drift, JIT sobre recursos.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044184" y="3072384"/>
            <a:ext cx="2596896" cy="1572768"/>
          </a:xfrm>
          <a:prstGeom prst="roundRect">
            <a:avLst>
              <a:gd name="adj" fmla="val 5233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190488" y="3209544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3025" y="3302081"/>
            <a:ext cx="235549" cy="23554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684264" y="3209544"/>
            <a:ext cx="1819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190488" y="3685032"/>
            <a:ext cx="23042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Microsegmentación, cifrado del tráfico, prevención de movimiento lateral.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Arquitectura: el motor de política en el centro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4023360" cy="841248"/>
          </a:xfrm>
          <a:prstGeom prst="roundRect">
            <a:avLst>
              <a:gd name="adj" fmla="val 9783"/>
            </a:avLst>
          </a:prstGeom>
          <a:solidFill>
            <a:srgbClr val="E4EEFB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44475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Señales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· dispositivo · ubicación · riesgo · clasificación del dato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14600" y="2212848"/>
            <a:ext cx="0" cy="237744"/>
          </a:xfrm>
          <a:prstGeom prst="line">
            <a:avLst/>
          </a:prstGeom>
          <a:noFill/>
          <a:ln w="25400">
            <a:solidFill>
              <a:srgbClr val="5A647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02920" y="2450592"/>
            <a:ext cx="4023360" cy="841248"/>
          </a:xfrm>
          <a:prstGeom prst="roundRect">
            <a:avLst>
              <a:gd name="adj" fmla="val 978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523744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política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Evalúa CADA solicitud  ·  en Microsoft: Entra ID + Conditional Access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14600" y="3291840"/>
            <a:ext cx="0" cy="237744"/>
          </a:xfrm>
          <a:prstGeom prst="line">
            <a:avLst/>
          </a:prstGeom>
          <a:noFill/>
          <a:ln w="25400">
            <a:solidFill>
              <a:srgbClr val="5A647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02920" y="3529584"/>
            <a:ext cx="4023360" cy="841248"/>
          </a:xfrm>
          <a:prstGeom prst="roundRect">
            <a:avLst>
              <a:gd name="adj" fmla="val 9783"/>
            </a:avLst>
          </a:prstGeom>
          <a:solidFill>
            <a:srgbClr val="E2F6F3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3602736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· datos · infraestructura · red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417320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decisión de acceso deja de ser “estás en la red corporativa” y pasa a ser una evaluación dinámica por solicitud.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seis pilares alimentan señales y reciben políticas.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transversal: protección contra amenazas e inteligencia (Defender XDR / Defender for Cloud) que monitorea, detecta y remedia.</a:t>
            </a:r>
            <a:endParaRPr lang="en-US" sz="12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· PROFUNDIZACIÓN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Identidades: el perímetro moderno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08176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434" y="1496690"/>
            <a:ext cx="225308" cy="2253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9848" y="1298448"/>
            <a:ext cx="7571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tiene identidad. </a:t>
            </a:r>
            <a:pPr indent="0" marL="0">
              <a:buNone/>
            </a:pPr>
            <a:r>
              <a:rPr lang="en-US" sz="13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Usuarios, servicios, aplicaciones y máquinas: la identidad es el nuevo perímetro.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2066544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34" y="2155058"/>
            <a:ext cx="225308" cy="2253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69848" y="1956816"/>
            <a:ext cx="7571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resistente a phishing + acceso condicional. </a:t>
            </a:r>
            <a:pPr indent="0" marL="0">
              <a:buNone/>
            </a:pPr>
            <a:r>
              <a:rPr lang="en-US" sz="13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basadas en riesgo que evalúan cada inicio de sesión.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02920" y="2724912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34" y="2813426"/>
            <a:ext cx="225308" cy="2253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69848" y="2615184"/>
            <a:ext cx="7571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PIM: privilegios Just-In-Time. </a:t>
            </a:r>
            <a:pPr indent="0" marL="0">
              <a:buNone/>
            </a:pPr>
            <a:r>
              <a:rPr lang="en-US" sz="13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roles administrativos se activan solo cuando se necesitan y por tiempo limitado.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02920" y="3383280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434" y="3471794"/>
            <a:ext cx="225308" cy="2253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69848" y="3273552"/>
            <a:ext cx="7571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Revisiones de acceso periódicas. </a:t>
            </a:r>
            <a:pPr indent="0" marL="0">
              <a:buNone/>
            </a:pPr>
            <a:r>
              <a:rPr lang="en-US" sz="13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y retirar permisos que ya no corresponden al rol actual.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502920" y="4041648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434" y="4130162"/>
            <a:ext cx="225308" cy="22530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69848" y="3931920"/>
            <a:ext cx="7571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Identidades de cargas de trabajo. </a:t>
            </a:r>
            <a:pPr indent="0" marL="0">
              <a:buNone/>
            </a:pPr>
            <a:r>
              <a:rPr lang="en-US" sz="13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aplicaciones no deben usar contraseñas embebidas → managed identities (¡lo haremos en el lab!).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· PROFUNDIZACIÓN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y cargas de trabajo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434" y="1642994"/>
            <a:ext cx="225308" cy="2253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9848" y="1371600"/>
            <a:ext cx="75712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Microsegmentación y micro-perímetros. </a:t>
            </a:r>
            <a:pPr indent="0" marL="0">
              <a:buNone/>
            </a:pPr>
            <a:r>
              <a:rPr lang="en-US" sz="13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NSGs, Azure Firewall, private endpoints — deny-by-default.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02920" y="2359152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34" y="2447666"/>
            <a:ext cx="225308" cy="2253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69848" y="2176272"/>
            <a:ext cx="75712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 extremo a extremo. </a:t>
            </a:r>
            <a:pPr indent="0" marL="0">
              <a:buNone/>
            </a:pPr>
            <a:r>
              <a:rPr lang="en-US" sz="13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en todo el tráfico; VPN / ExpressRoute con cifrado para híbrido.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02920" y="3163824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34" y="3252338"/>
            <a:ext cx="225308" cy="2253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69848" y="2980944"/>
            <a:ext cx="75712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Contener el movimiento lateral. </a:t>
            </a:r>
            <a:pPr indent="0" marL="0">
              <a:buNone/>
            </a:pPr>
            <a:r>
              <a:rPr lang="en-US" sz="13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pod o VM cae, la brecha queda contenida (recuerden los riesgos de contenedores del curso).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502920" y="3968496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434" y="4057010"/>
            <a:ext cx="225308" cy="2253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69848" y="3785616"/>
            <a:ext cx="75712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 continua. </a:t>
            </a:r>
            <a:pPr indent="0" marL="0">
              <a:buNone/>
            </a:pPr>
            <a:r>
              <a:rPr lang="en-US" sz="13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Logging, detección de anomalías, SIEM: no se puede proteger lo que no se ve.</a:t>
            </a:r>
            <a:endParaRPr lang="en-US" sz="13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camino incremental, no un switch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847088" cy="868680"/>
          </a:xfrm>
          <a:prstGeom prst="roundRect">
            <a:avLst>
              <a:gd name="adj" fmla="val 9474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417320"/>
            <a:ext cx="1664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estado actual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1156" y="1764792"/>
            <a:ext cx="182880" cy="182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606040" y="1417320"/>
            <a:ext cx="1847088" cy="868680"/>
          </a:xfrm>
          <a:prstGeom prst="roundRect">
            <a:avLst>
              <a:gd name="adj" fmla="val 9474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697480" y="1417320"/>
            <a:ext cx="1664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por riesgo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4276" y="1764792"/>
            <a:ext cx="182880" cy="1828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709160" y="1417320"/>
            <a:ext cx="1847088" cy="868680"/>
          </a:xfrm>
          <a:prstGeom prst="roundRect">
            <a:avLst>
              <a:gd name="adj" fmla="val 9474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800600" y="1417320"/>
            <a:ext cx="1664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por pilar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1764792"/>
            <a:ext cx="182880" cy="18288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812280" y="1417320"/>
            <a:ext cx="1847088" cy="868680"/>
          </a:xfrm>
          <a:prstGeom prst="roundRect">
            <a:avLst>
              <a:gd name="adj" fmla="val 9474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6903720" y="1417320"/>
            <a:ext cx="1664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y repetir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02920" y="2606040"/>
            <a:ext cx="8138160" cy="640080"/>
          </a:xfrm>
          <a:prstGeom prst="roundRect">
            <a:avLst>
              <a:gd name="adj" fmla="val 12857"/>
            </a:avLst>
          </a:prstGeom>
          <a:solidFill>
            <a:srgbClr val="E2F6F3"/>
          </a:solidFill>
          <a:ln/>
        </p:spPr>
      </p:sp>
      <p:sp>
        <p:nvSpPr>
          <p:cNvPr id="16" name="Text 11"/>
          <p:cNvSpPr/>
          <p:nvPr/>
        </p:nvSpPr>
        <p:spPr>
          <a:xfrm>
            <a:off x="731520" y="2606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partida recomendado: </a:t>
            </a:r>
            <a:pPr indent="0" marL="0">
              <a:buNone/>
            </a:pPr>
            <a:r>
              <a:rPr lang="en-US" sz="13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identidades (MFA + Conditional Access) — la mayor reducción de riesgo por esfuerzo invertido.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502920" y="34747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del hilo conductor: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02920" y="3840480"/>
            <a:ext cx="2596896" cy="777240"/>
          </a:xfrm>
          <a:prstGeom prst="roundRect">
            <a:avLst>
              <a:gd name="adj" fmla="val 10588"/>
            </a:avLst>
          </a:prstGeom>
          <a:solidFill>
            <a:srgbClr val="1E2761"/>
          </a:solidFill>
          <a:ln/>
        </p:spPr>
      </p:sp>
      <p:sp>
        <p:nvSpPr>
          <p:cNvPr id="19" name="Text 14"/>
          <p:cNvSpPr/>
          <p:nvPr/>
        </p:nvSpPr>
        <p:spPr>
          <a:xfrm>
            <a:off x="594360" y="3840480"/>
            <a:ext cx="2414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 compartida</a:t>
            </a:r>
            <a:endParaRPr lang="en-US" sz="105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proteges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3273552" y="3840480"/>
            <a:ext cx="2596896" cy="777240"/>
          </a:xfrm>
          <a:prstGeom prst="roundRect">
            <a:avLst>
              <a:gd name="adj" fmla="val 10588"/>
            </a:avLst>
          </a:prstGeom>
          <a:solidFill>
            <a:srgbClr val="1E2761"/>
          </a:solidFill>
          <a:ln/>
        </p:spPr>
      </p:sp>
      <p:sp>
        <p:nvSpPr>
          <p:cNvPr id="21" name="Text 16"/>
          <p:cNvSpPr/>
          <p:nvPr/>
        </p:nvSpPr>
        <p:spPr>
          <a:xfrm>
            <a:off x="3364992" y="3840480"/>
            <a:ext cx="2414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+ Threat Modeling</a:t>
            </a:r>
            <a:endParaRPr lang="en-US" sz="105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 QUÉ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044184" y="3840480"/>
            <a:ext cx="2596896" cy="777240"/>
          </a:xfrm>
          <a:prstGeom prst="roundRect">
            <a:avLst>
              <a:gd name="adj" fmla="val 10588"/>
            </a:avLst>
          </a:prstGeom>
          <a:solidFill>
            <a:srgbClr val="1E2761"/>
          </a:solidFill>
          <a:ln/>
        </p:spPr>
      </p:sp>
      <p:sp>
        <p:nvSpPr>
          <p:cNvPr id="23" name="Text 18"/>
          <p:cNvSpPr/>
          <p:nvPr/>
        </p:nvSpPr>
        <p:spPr>
          <a:xfrm>
            <a:off x="6135624" y="3840480"/>
            <a:ext cx="2414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</a:t>
            </a:r>
            <a:endParaRPr lang="en-US" sz="105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-1463040"/>
            <a:ext cx="4206240" cy="4206240"/>
          </a:xfrm>
          <a:prstGeom prst="ellipse">
            <a:avLst/>
          </a:prstGeom>
          <a:solidFill>
            <a:srgbClr val="CADCFC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3566160"/>
            <a:ext cx="3291840" cy="3291840"/>
          </a:xfrm>
          <a:prstGeom prst="ellipse">
            <a:avLst/>
          </a:prstGeom>
          <a:solidFill>
            <a:srgbClr val="2EC4B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Manos a la obra en Azure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02920" y="3246120"/>
            <a:ext cx="1417320" cy="411480"/>
          </a:xfrm>
          <a:prstGeom prst="roundRect">
            <a:avLst>
              <a:gd name="adj" fmla="val 48889"/>
            </a:avLst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32461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03120" y="32461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Requisitos: suscripción Azure (Owner) · Defender for Cloud plan gratuito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03720" y="1691640"/>
            <a:ext cx="1554480" cy="1554480"/>
          </a:xfrm>
          <a:prstGeom prst="ellipse">
            <a:avLst/>
          </a:prstGeom>
          <a:solidFill>
            <a:srgbClr val="2EC4B6">
              <a:alpha val="22000"/>
            </a:srgbClr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12" y="2084832"/>
            <a:ext cx="768096" cy="768096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PUENTE AL LABORATORIO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teoría a la práctica</a:t>
            </a:r>
            <a:endParaRPr lang="en-US" sz="26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8138160" cy="914400"/>
        </p:xfrm>
        <a:graphic>
          <a:graphicData uri="http://schemas.openxmlformats.org/drawingml/2006/table">
            <a:tbl>
              <a:tblPr/>
              <a:tblGrid>
                <a:gridCol w="3794760"/>
                <a:gridCol w="434340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Concepto de la teoría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Práctica en el laboratorio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Identidad como plano de control (Zero Trust)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Manejo de identidades: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usuarios y grupos en Microsoft Entra 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Menor privilegio (JIT / JEA)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Roles y perfiles: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RBAC de Azure con alcance mínimo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Identidades de cargas de trabajo sin credenciales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identities: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recurso accede a otro servicio sin secretos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Gobierno y configuración segura (asumir brecha)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Policy: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políticas de auditoría / denegación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Monitoreo continuo (verificar explícitamente)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Postura de seguridad: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Defender for Cloud — secure score y recomendaciones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PUENTE AL LABORATORIO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del laboratorio (90 min)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6245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362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124712" y="1389888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3226" y="1478402"/>
            <a:ext cx="225308" cy="2253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298448"/>
            <a:ext cx="6949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Identidades.  </a:t>
            </a:r>
            <a:pPr indent="0" marL="0">
              <a:buNone/>
            </a:pPr>
            <a:r>
              <a:rPr lang="en-US" sz="13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usuarios y grupos en Microsoft Entra ID.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2920" y="20391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1124712" y="2066544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226" y="2155058"/>
            <a:ext cx="225308" cy="2253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91640" y="1975104"/>
            <a:ext cx="6949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y perfiles.  </a:t>
            </a:r>
            <a:pPr indent="0" marL="0">
              <a:buNone/>
            </a:pPr>
            <a:r>
              <a:rPr lang="en-US" sz="13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 roles RBAC con el principio de menor privilegio.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02920" y="271576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1"/>
          <p:cNvSpPr/>
          <p:nvPr/>
        </p:nvSpPr>
        <p:spPr>
          <a:xfrm>
            <a:off x="50292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1124712" y="2743200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3226" y="2831714"/>
            <a:ext cx="225308" cy="2253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91640" y="2651760"/>
            <a:ext cx="6949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identity.  </a:t>
            </a:r>
            <a:pPr indent="0" marL="0">
              <a:buNone/>
            </a:pPr>
            <a:r>
              <a:rPr lang="en-US" sz="13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Habilitarla y usarla para acceder a Key Vault o Storage sin credenciales.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02920" y="339242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5"/>
          <p:cNvSpPr/>
          <p:nvPr/>
        </p:nvSpPr>
        <p:spPr>
          <a:xfrm>
            <a:off x="502920" y="3392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Shape 16"/>
          <p:cNvSpPr/>
          <p:nvPr/>
        </p:nvSpPr>
        <p:spPr>
          <a:xfrm>
            <a:off x="1124712" y="3419856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3226" y="3508370"/>
            <a:ext cx="225308" cy="2253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91640" y="3328416"/>
            <a:ext cx="6949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Policy.  </a:t>
            </a:r>
            <a:pPr indent="0" marL="0">
              <a:buNone/>
            </a:pPr>
            <a:r>
              <a:rPr lang="en-US" sz="13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y asignar una política (p. ej., exigir cifrado o denegar recursos sin etiquetas).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502920" y="40690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19"/>
          <p:cNvSpPr/>
          <p:nvPr/>
        </p:nvSpPr>
        <p:spPr>
          <a:xfrm>
            <a:off x="50292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6" name="Shape 20"/>
          <p:cNvSpPr/>
          <p:nvPr/>
        </p:nvSpPr>
        <p:spPr>
          <a:xfrm>
            <a:off x="1124712" y="4096512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3226" y="4185026"/>
            <a:ext cx="225308" cy="2253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91640" y="4005072"/>
            <a:ext cx="6949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Postura de seguridad.  </a:t>
            </a:r>
            <a:pPr indent="0" marL="0">
              <a:buNone/>
            </a:pPr>
            <a:r>
              <a:rPr lang="en-US" sz="13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el secure score en Defender for Cloud, interpretar recomendaciones y remediar una.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1645920"/>
            <a:ext cx="4572000" cy="4572000"/>
          </a:xfrm>
          <a:prstGeom prst="ellipse">
            <a:avLst/>
          </a:prstGeom>
          <a:solidFill>
            <a:srgbClr val="CADCFC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de repaso y referencias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453896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53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41732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protege los datos en SaaS?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020824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020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1984248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propiedad de seguridad viola el tampering?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02920" y="2587752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587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551176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¿Cuáles son los tres principios de Zero Trust?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02920" y="324612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566160"/>
            <a:ext cx="8138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responsibility in the cloud — learn.microsoft.com/azure/security/fundamentals/shared-responsibility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Zero Trust? — learn.microsoft.com/security/zero-trust/zero-trust-overview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Threat Modeling — owasp.org/www-community/Threat_Modeling  ·  Threat Dragon — owasp.org/www-project-threat-dragon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Threat Modeling Tool — learn.microsoft.com/azure/security/develop/threat-modeling-tool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for Cloud, secure score — learn.microsoft.com/azure/defender-for-cloud/secure-score-security-controls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7091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 Alejandro Vargas Rojas  ·  manuelvargasrojas@cedoc.edu.co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1 — Fundamentos de Seguridad en la Nube</dc:title>
  <dc:subject>PptxGenJS Presentation</dc:subject>
  <dc:creator>Manuel Alejandro Vargas Rojas</dc:creator>
  <cp:lastModifiedBy>Manuel Alejandro Vargas Rojas</cp:lastModifiedBy>
  <cp:revision>1</cp:revision>
  <dcterms:created xsi:type="dcterms:W3CDTF">2026-07-05T03:39:28Z</dcterms:created>
  <dcterms:modified xsi:type="dcterms:W3CDTF">2026-07-05T03:39:28Z</dcterms:modified>
</cp:coreProperties>
</file>