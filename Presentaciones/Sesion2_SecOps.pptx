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1920240"/>
            <a:ext cx="5486400" cy="54864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108960"/>
            <a:ext cx="4389120" cy="438912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SECOPS · SESIÓN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Arquitecturas Seguras en Azure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502920" y="28529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· Microsegmentación · App Service, AKS y Functions · Mínima exposición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2735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4 horas  ·  2.5 h teoría  +  1.5 h laboratorio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041648"/>
            <a:ext cx="2926080" cy="0"/>
          </a:xfrm>
          <a:prstGeom prst="line">
            <a:avLst/>
          </a:prstGeom>
          <a:noFill/>
          <a:ln w="1905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18795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manuelvargasrojas@cedoc.edu.co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relámpago de la Sesión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914400"/>
          </a:xfrm>
          <a:prstGeom prst="roundRect">
            <a:avLst>
              <a:gd name="adj" fmla="val 9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09344"/>
            <a:ext cx="438912" cy="438912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49" y="170590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8132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protege identidades y datos en cualquier modelo de servicio?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— siempre.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423160"/>
            <a:ext cx="8138160" cy="914400"/>
          </a:xfrm>
          <a:prstGeom prst="roundRect">
            <a:avLst>
              <a:gd name="adj" fmla="val 9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2660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9" y="2757465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53288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dice el tercer principio de Zero Trust?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la brecha: minimizar el blast radius y segmentar.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02920" y="3474720"/>
            <a:ext cx="8138160" cy="914400"/>
          </a:xfrm>
          <a:prstGeom prst="roundRect">
            <a:avLst>
              <a:gd name="adj" fmla="val 9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4088" y="3712464"/>
            <a:ext cx="438912" cy="438912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49" y="3809025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58444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lab, ¿qué rol recibió la managed identity sobre el Key Vault?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Secrets User — menor privilegio.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807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80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9844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los principios de diseño seguro (defensa en profundidad, deny-by-default, reducción de blast radius).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02996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y diagramar la topología hub-and-spoke: qué vive en el hub, qué en los spokes y cómo fluye el tráfico.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84378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76148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microsegmentación con VNets, subnets, NSG, ASG, private endpoints y network policies.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57530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49300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los controles de seguridad apropiados para App Service, AKS y Azure Functions.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3068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22452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superficie de ataque de una carga de trabajo aplicando mínima exposición y hardening.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hilo conductor de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444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proteger (responsabilidad compartida), contra qué (riesgos, threat modeling) y cómo pensar la defensa (Zero Trust).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90872" y="1298448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444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dibuja esa defensa en un plano de arquitectura: de los principios a la topología, al detalle, al servicio.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E4EEF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71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832" y="3108960"/>
            <a:ext cx="164592" cy="1645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286000" y="29718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E4EEFB"/>
          </a:solidFill>
          <a:ln/>
        </p:spPr>
      </p:sp>
      <p:sp>
        <p:nvSpPr>
          <p:cNvPr id="14" name="Text 11"/>
          <p:cNvSpPr/>
          <p:nvPr/>
        </p:nvSpPr>
        <p:spPr>
          <a:xfrm>
            <a:off x="2286000" y="2971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3108960"/>
            <a:ext cx="164592" cy="1645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34840" y="297180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E4EEFB"/>
          </a:solidFill>
          <a:ln/>
        </p:spPr>
      </p:sp>
      <p:sp>
        <p:nvSpPr>
          <p:cNvPr id="17" name="Text 13"/>
          <p:cNvSpPr/>
          <p:nvPr/>
        </p:nvSpPr>
        <p:spPr>
          <a:xfrm>
            <a:off x="443484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3108960"/>
            <a:ext cx="164592" cy="16459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903720" y="297180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E4EEFB"/>
          </a:solidFill>
          <a:ln/>
        </p:spPr>
      </p:sp>
      <p:sp>
        <p:nvSpPr>
          <p:cNvPr id="20" name="Text 15"/>
          <p:cNvSpPr/>
          <p:nvPr/>
        </p:nvSpPr>
        <p:spPr>
          <a:xfrm>
            <a:off x="6903720" y="2971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2920" y="3794760"/>
            <a:ext cx="8138160" cy="868680"/>
          </a:xfrm>
          <a:prstGeom prst="roundRect">
            <a:avLst>
              <a:gd name="adj" fmla="val 9474"/>
            </a:avLst>
          </a:prstGeom>
          <a:solidFill>
            <a:srgbClr val="E2F6F3"/>
          </a:solidFill>
          <a:ln/>
        </p:spPr>
      </p:sp>
      <p:sp>
        <p:nvSpPr>
          <p:cNvPr id="22" name="Text 17"/>
          <p:cNvSpPr/>
          <p:nvPr/>
        </p:nvSpPr>
        <p:spPr>
          <a:xfrm>
            <a:off x="777240" y="37947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arquitectura ES el primer control de seguridad: </a:t>
            </a:r>
            <a:pPr algn="ctr" indent="0" marL="0">
              <a:buNone/>
            </a:pPr>
            <a:r>
              <a:rPr lang="en-US" sz="1500" i="1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diseño no expone, el atacante no lo encuentra.”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 de arquitecturas seguras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en profundidad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concéntricas — cada una asume que la anterior falló (¡asumir la brecha!):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8138160" cy="43891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727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acceso  </a:t>
            </a:r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Entra ID · MFA · RBAC · PIM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084832"/>
            <a:ext cx="7498080" cy="438912"/>
          </a:xfrm>
          <a:prstGeom prst="roundRect">
            <a:avLst>
              <a:gd name="adj" fmla="val 12500"/>
            </a:avLst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8483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 </a:t>
            </a:r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Azure Firewall · WAF · DDoS Protection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43000" y="2596896"/>
            <a:ext cx="6858000" cy="438912"/>
          </a:xfrm>
          <a:prstGeom prst="roundRect">
            <a:avLst>
              <a:gd name="adj" fmla="val 12500"/>
            </a:avLst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59689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 </a:t>
            </a:r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NSG · microsegmentación · private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3108960"/>
            <a:ext cx="6217920" cy="438912"/>
          </a:xfrm>
          <a:prstGeom prst="roundRect">
            <a:avLst>
              <a:gd name="adj" fmla="val 12500"/>
            </a:avLst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10896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 </a:t>
            </a:r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Hardening del servicio · parcheo · endpoint protection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83080" y="3621024"/>
            <a:ext cx="5577840" cy="438912"/>
          </a:xfrm>
          <a:prstGeom prst="roundRect">
            <a:avLst>
              <a:gd name="adj" fmla="val 12500"/>
            </a:avLst>
          </a:prstGeom>
          <a:solidFill>
            <a:srgbClr val="F3F6FC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3621024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 </a:t>
            </a:r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Código seguro · managed identities · secretos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4133088"/>
            <a:ext cx="4937760" cy="438912"/>
          </a:xfrm>
          <a:prstGeom prst="roundRect">
            <a:avLst>
              <a:gd name="adj" fmla="val 12500"/>
            </a:avLst>
          </a:prstGeom>
          <a:solidFill>
            <a:srgbClr val="E2F6F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413308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 </a:t>
            </a:r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Cifrado · clasificación · Key Vault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que gobiernan el diseño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533266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25880"/>
            <a:ext cx="7571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comunica hasta que una regla explícita lo permita.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12140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209922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002536"/>
            <a:ext cx="7571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privilegio también en red.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segmento solo alcanza lo que necesita (JEA aplicado a la topología).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27980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28865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679192"/>
            <a:ext cx="7571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blast radius.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 los segmentos define el tamaño del incidente.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3474720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563234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355848"/>
            <a:ext cx="7571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superficie de ataque.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endpoints públicos, menos puertos, menos permisos.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02920" y="415137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4" y="4239890"/>
            <a:ext cx="225308" cy="2253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69848" y="4032504"/>
            <a:ext cx="7571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= perímetro primario; red = segundo perímetro.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segmentaciones deben ser coherentes.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Segmentación: el concepto madre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límites intencionales entre unidades con niveles de confianza distintos: por ambiente, por workload, por capa.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596896" cy="1554480"/>
          </a:xfrm>
          <a:prstGeom prst="roundRect">
            <a:avLst>
              <a:gd name="adj" fmla="val 529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665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2728" y="196596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48716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groups, suscripciones, resource groups — lo vimos con RBAC.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73552" y="1783080"/>
            <a:ext cx="2596896" cy="1554480"/>
          </a:xfrm>
          <a:prstGeom prst="roundRect">
            <a:avLst>
              <a:gd name="adj" fmla="val 529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1965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0665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96596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56432" y="248716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alcances: quién puede hacer qué y dónde.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44184" y="1783080"/>
            <a:ext cx="2596896" cy="1554480"/>
          </a:xfrm>
          <a:prstGeom prst="roundRect">
            <a:avLst>
              <a:gd name="adj" fmla="val 529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27064" y="1965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06654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93992" y="196596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27064" y="2487168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VNets, subnets, NSG, ASG, private endpoints.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" y="356616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E2F6F3"/>
          </a:solidFill>
          <a:ln/>
        </p:spPr>
      </p:sp>
      <p:sp>
        <p:nvSpPr>
          <p:cNvPr id="21" name="Text 16"/>
          <p:cNvSpPr/>
          <p:nvPr/>
        </p:nvSpPr>
        <p:spPr>
          <a:xfrm>
            <a:off x="731520" y="356616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 diseño no es “¿cuántos segmentos?” sino </a:t>
            </a:r>
            <a:pPr indent="0" marL="0">
              <a:buNone/>
            </a:pPr>
            <a:r>
              <a:rPr lang="en-US" sz="13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 este segmento cae, ¿qué arrastra consigo?”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02920" y="4315968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43159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→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topología que implementa esto a escala organizacional es hub-and-spoke.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Hub-and-Spoke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y por qué existe?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569842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25880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recomendada por el Cloud Adoption Framework.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organizaciones con múltiples cargas de trabajo.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23113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319650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075688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Hub: VNet central con servicios de red compartidos.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conectividad con on-premises y de egreso/inspección.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298094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06945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825496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Spokes: VNets separadas, una por workload o ambiente.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Conectadas al hub por VNet peering.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02920" y="3794760"/>
            <a:ext cx="8138160" cy="914400"/>
          </a:xfrm>
          <a:prstGeom prst="roundRect">
            <a:avLst>
              <a:gd name="adj" fmla="val 9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731520" y="38770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Beneficios: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31520" y="415137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workload  ·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centralizados (un firewall, no diez)  ·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(un gateway compartido)  ·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claro (plataforma administra el hub; apps, sus spokes).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148132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72768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vive en el hub — y solo esto. ¡Las aplicaciones NO van en el hub!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Firewall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Inspección norte-sur y este-oeste; egreso; IDPS (Premium)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 AzureFirewallSubnet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/ ExpressRoute GW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Conectividad híbrida; los spokes lo comparten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GatewaySubnet (mín. /27)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Bastion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RDP/SSH a VMs de todos los spokes sin IPs públicas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 Basic o superior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DNS Resolver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Resolución entre zonas privadas y on-premises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hay DNS personalizado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 Protection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Protege IPs públicas de hub y spokes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 según riesgo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spokes y el peering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533266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298448"/>
            <a:ext cx="7571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spoke por workload o ambiente.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spoke-prod-web, spoke-dev, spoke-datos.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17627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264786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029968"/>
            <a:ext cx="7571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peering NO es transitivo.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A↔hub↔B no implica A↔B. Ese aislamiento por defecto es una característica de seguridad.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28163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comunicar spokes hay dos opciones: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3127248"/>
            <a:ext cx="3950208" cy="1051560"/>
          </a:xfrm>
          <a:prstGeom prst="roundRect">
            <a:avLst>
              <a:gd name="adj" fmla="val 782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7512" y="329184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26" y="3380354"/>
            <a:ext cx="225308" cy="2253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918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través del firewall del hub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85800" y="37307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UDR fuerza el tráfico al firewall: agrega un salto pero todo queda inspeccionado y registrado.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90872" y="3127248"/>
            <a:ext cx="3950208" cy="1051560"/>
          </a:xfrm>
          <a:prstGeom prst="roundRect">
            <a:avLst>
              <a:gd name="adj" fmla="val 7826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855464" y="329184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978" y="3380354"/>
            <a:ext cx="225308" cy="2253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32918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Peering directo entre spokes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873752" y="37307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latencia, sin inspección — solo flujos de alto volumen y bajo riesgo del mismo ambiente.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02920" y="43159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tunneling: </a:t>
            </a:r>
            <a:pPr indent="0" marL="0">
              <a:buNone/>
            </a:pPr>
            <a:r>
              <a:rPr lang="en-US" sz="1200" i="1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ruta por defecto (0.0.0.0/0 → firewall) obliga a que el egreso a Internet de los spokes pase por el hub.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completo y flujos de tráfico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651760" y="1298448"/>
            <a:ext cx="914400" cy="457200"/>
          </a:xfrm>
          <a:prstGeom prst="ellipse">
            <a:avLst/>
          </a:prstGeom>
          <a:solidFill>
            <a:srgbClr val="E4EE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51760" y="1298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108960" y="1755648"/>
            <a:ext cx="0" cy="256032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201168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2121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2468880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2C3670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24688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Firewall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3017520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2C3670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30175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3566160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2C3670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35661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ExpressRoute GW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7432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E4EE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43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088" y="2880360"/>
            <a:ext cx="548640" cy="5486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212080" y="21031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E2F6F3"/>
          </a:solidFill>
          <a:ln w="12700">
            <a:solidFill>
              <a:srgbClr val="0F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2080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spoke-prod (web)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21208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+ NSG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487168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681728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peering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5212080" y="33375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E2F6F3"/>
          </a:solidFill>
          <a:ln w="12700">
            <a:solidFill>
              <a:srgbClr val="0F948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12080" y="3410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spoke-dev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212080" y="37216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+ NSG</a:t>
            </a:r>
            <a:endParaRPr lang="en-US" sz="9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721608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681728" y="31363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peering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717804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flujos: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7178040" y="233172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9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 entrante: Internet → FW/WAF → spoke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7178040" y="293522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9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 saliente: spoke → UDR → FW → Internet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7178040" y="353872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9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E-O: spoke prod → FW → spoke datos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7178040" y="414223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9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operador → Bastion → VM (sin IP pública)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502920" y="4572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egreso e inter-spoke pasa por inspección del hub.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y decisiones de diseño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721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56069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25880"/>
            <a:ext cx="7571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Virtual WAN.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administrado por Microsoft: menos overhead, ideal multi-región/multi-sitio.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20370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29221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057400"/>
            <a:ext cx="7571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Multi-región.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hub por región; hubs interconectados.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293522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02373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788920"/>
            <a:ext cx="7571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firewall del hub es un cuello de botella potencial: dimensionar ancho de banda al agregar spokes.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02920" y="3703320"/>
            <a:ext cx="8138160" cy="1005840"/>
          </a:xfrm>
          <a:prstGeom prst="roundRect">
            <a:avLst>
              <a:gd name="adj" fmla="val 8182"/>
            </a:avLst>
          </a:prstGeom>
          <a:solidFill>
            <a:srgbClr val="FBEED3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37033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(5 min, parejas):  </a:t>
            </a:r>
            <a:pPr indent="0" marL="0">
              <a:buNone/>
            </a:pPr>
            <a:r>
              <a:rPr lang="en-US" sz="1300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tiene app de pagos (prod), ambiente de desarrollo y una BD regulada. ¿Cuántos spokes crearían y qué tráfico permitirían entre ellos? Compartir 2 respuestas.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macro a la micro segmentación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5179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 ENTRE workloads: cada app en su propio spoke.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90872" y="1371600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179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204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DENTRO del workload: cargas individuales con políticas que limitan su tráfico.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triple: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291840"/>
            <a:ext cx="2596896" cy="868680"/>
          </a:xfrm>
          <a:prstGeom prst="roundRect">
            <a:avLst>
              <a:gd name="adj" fmla="val 9474"/>
            </a:avLst>
          </a:prstGeom>
          <a:solidFill>
            <a:srgbClr val="E2F6F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" y="352044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738" y="3608954"/>
            <a:ext cx="225308" cy="2253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24712" y="32918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superficie de ataque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73552" y="3291840"/>
            <a:ext cx="2596896" cy="868680"/>
          </a:xfrm>
          <a:prstGeom prst="roundRect">
            <a:avLst>
              <a:gd name="adj" fmla="val 9474"/>
            </a:avLst>
          </a:prstGeom>
          <a:solidFill>
            <a:srgbClr val="E2F6F3"/>
          </a:solidFill>
          <a:ln/>
        </p:spPr>
      </p:sp>
      <p:sp>
        <p:nvSpPr>
          <p:cNvPr id="16" name="Shape 13"/>
          <p:cNvSpPr/>
          <p:nvPr/>
        </p:nvSpPr>
        <p:spPr>
          <a:xfrm>
            <a:off x="3419856" y="352044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370" y="3608954"/>
            <a:ext cx="225308" cy="2253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95344" y="32918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 la brecha (anti-movimiento lateral)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44184" y="3291840"/>
            <a:ext cx="2596896" cy="868680"/>
          </a:xfrm>
          <a:prstGeom prst="roundRect">
            <a:avLst>
              <a:gd name="adj" fmla="val 9474"/>
            </a:avLst>
          </a:prstGeom>
          <a:solidFill>
            <a:srgbClr val="E2F6F3"/>
          </a:solidFill>
          <a:ln/>
        </p:spPr>
      </p:sp>
      <p:sp>
        <p:nvSpPr>
          <p:cNvPr id="20" name="Shape 16"/>
          <p:cNvSpPr/>
          <p:nvPr/>
        </p:nvSpPr>
        <p:spPr>
          <a:xfrm>
            <a:off x="6190488" y="352044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02" y="3608954"/>
            <a:ext cx="225308" cy="2253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65976" y="32918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por política a nivel de aplicación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02920" y="43159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respuesta arquitectónica al “assume breach”: si el atacante ya está en la web tier, ¿hasta dónde llega?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herramientas, de gruesa a fina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4475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738" y="1533266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444752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VNet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9224" y="1901952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 total: sin peering, no hay tráfico.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3552" y="1298448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9856" y="144475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370" y="1533266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95344" y="1444752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Subnet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19856" y="1901952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capa (web / app / datos).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44184" y="1298448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0488" y="144475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02" y="1533266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65976" y="1444752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NSG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90488" y="1901952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L4 sobre subnet o NIC. Gana la combinación más restrictiva.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2852928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" y="29992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38" y="3087746"/>
            <a:ext cx="225308" cy="2253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24712" y="2999232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9224" y="3456432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NICs por rol de app; las reglas describen intención, no IPs.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73552" y="2852928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19856" y="29992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370" y="3087746"/>
            <a:ext cx="225308" cy="2253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95344" y="2999232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Service tags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19856" y="3456432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Destinos de plataforma por nombre (AzureKeyVault, Storage).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44184" y="2852928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90488" y="29992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002" y="3087746"/>
            <a:ext cx="225308" cy="2253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65976" y="2999232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Private endpoints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190488" y="3456432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PaaS entra a la VNet con IP privada: deja de existir en Internet.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 AKS: network policies para microsegmentación a nivel de pod (Bloque 6).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3 capas con NSG + ASG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pagos — web, API y base de datos en una VNet de spoke: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53035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91640"/>
                <a:gridCol w="123444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(App GW)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4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4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 (default)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536192"/>
            <a:ext cx="2651760" cy="1280160"/>
          </a:xfrm>
          <a:prstGeom prst="roundRect">
            <a:avLst>
              <a:gd name="adj" fmla="val 6429"/>
            </a:avLst>
          </a:prstGeom>
          <a:solidFill>
            <a:srgbClr val="FBEED3"/>
          </a:solidFill>
          <a:ln/>
        </p:spPr>
      </p:sp>
      <p:sp>
        <p:nvSpPr>
          <p:cNvPr id="7" name="Text 4"/>
          <p:cNvSpPr/>
          <p:nvPr/>
        </p:nvSpPr>
        <p:spPr>
          <a:xfrm>
            <a:off x="6144768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regla 130 </a:t>
            </a:r>
            <a:pPr indent="0" marL="0">
              <a:buNone/>
            </a:pPr>
            <a:r>
              <a:rPr lang="en-US" sz="1100" b="1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4096 ya niega todo?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44768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la intención y protege contra futuras reglas permisivas de menor prioridad.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89320" y="2926080"/>
            <a:ext cx="2651760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144768" y="2926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 NUNCA habla con la BD directamente. Si comprometen la web, no hay ruta a los datos.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160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menor = se evalúa primero. El default 4096 niega todo lo no permitido explícitamente.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Visibilidad: no se microsegmenta a ciegas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661282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71600"/>
            <a:ext cx="7571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 flow logs + Traffic Analytics.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habla con quién; qué reglas niegan o permiten más tráfico.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41401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502530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212848"/>
            <a:ext cx="7571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trabajo real.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el tráfico → derivar la matriz de comunicación → escribir reglas deny-by-default → monitorear violaciones.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32552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3437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054096"/>
            <a:ext cx="7571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forense.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incidente, los flow logs reconstruyen el movimiento lateral.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02920" y="4023360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FBEED3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Actualidad: </a:t>
            </a:r>
            <a:pPr indent="0" marL="0">
              <a:buNone/>
            </a:pPr>
            <a:r>
              <a:rPr lang="en-US" sz="1300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NSG flow logs clásicos van camino al retiro — usar virtual network flow logs.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737360"/>
            <a:ext cx="4754880" cy="475488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840480" cy="384048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Volvemos con arquitecturas seguras para aplicaciones web.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seguras para aplicaciones web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de referencia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61" y="160532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4475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80760" y="14447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 ataques volumétricos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084832"/>
            <a:ext cx="146304" cy="12801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2212848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" y="235000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61" y="2446569"/>
            <a:ext cx="245791" cy="2457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2860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/ App Gateway + WAF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80760" y="22860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OWASP CRS; TLS terminado en el edge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926080"/>
            <a:ext cx="146304" cy="12801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2920" y="3054096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85800" y="319125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61" y="3287817"/>
            <a:ext cx="245791" cy="24579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312724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080760" y="31272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· HTTPS-only · sin acceso público directo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767328"/>
            <a:ext cx="146304" cy="12801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02920" y="3895344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E2F6F3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85800" y="403250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361" y="4129065"/>
            <a:ext cx="245791" cy="24579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280160" y="39684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 → SQL / Key Vault / Storage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6080760" y="396849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network access: disabled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mitiga una amenaza del modelo STRIDE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29260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Amenaza STRIDE que ataja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Tampering / Injection (A03)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SQLi, XSS bloqueados por reglas administradas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of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Absorbe ataques volumétricos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extremo a extremo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Disclosure / Tampering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 viaja en claro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+ MFA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Spoofing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robusta de usuarios y 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Disclosure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BD no existe en Internet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+ App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Repudiation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Trazabilidad de cada transacción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arquitectura segura es un threat model respondido: </a:t>
            </a:r>
            <a:pPr indent="0" marL="0">
              <a:buNone/>
            </a:pPr>
            <a:r>
              <a:rPr lang="en-US" sz="1200" i="1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control existe porque una amenaza lo exige.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vive esta app en el hub-and-spoke?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661282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71600"/>
            <a:ext cx="7571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web completa = un spoke.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WAF puede vivir en el spoke (App Gateway) o ser global (Front Door).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41401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502530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212848"/>
            <a:ext cx="75712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egreso de App Service se fuerza por el firewall del hub.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registro del tráfico de salida (anti-exfiltración).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3246120"/>
            <a:ext cx="8138160" cy="1417320"/>
          </a:xfrm>
          <a:prstGeom prst="roundRect">
            <a:avLst>
              <a:gd name="adj" fmla="val 5806"/>
            </a:avLst>
          </a:prstGeom>
          <a:solidFill>
            <a:srgbClr val="FBEED3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324612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conexión (3 min):  </a:t>
            </a:r>
            <a:pPr indent="0" marL="0">
              <a:buNone/>
            </a:pPr>
            <a:r>
              <a:rPr lang="en-US" sz="1400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diagrama hub-spoke del Bloque 3, ¿dónde dibujarían el App Gateway, el App Service y la BD? ¿Qué NSG/ASG aplicarían?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App Service, AKS y Functions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común y App Service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que se repite en los tres: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administrada + HTTPS/TLS + aislamiento de red + secretos fuera del código + monitoreo.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(repaso ampliado del lab de la Sesión 1):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7977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2868290"/>
            <a:ext cx="225308" cy="2253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2670048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+ Key Vault references; Easy Auth con Entra ID protege la app sin código.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43814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3526658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69848" y="3328416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restrictions (solo el WAF llega) + private endpoint; VNet integration para salir por el hub.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409651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4185026"/>
            <a:ext cx="225308" cy="2253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69848" y="3986784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httpsOnly + TLS 1.2+, FTP deshabilitado, remote debugging off, slots con config separada.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40965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87952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AKS: el que más superficie tiene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0817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496690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298448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Kubernetes RBAC; clúster privado o IPs autorizadas.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06654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15505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1956816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CNI + network policies = microsegmentación entre pods; egreso forzado por Azure Firewall.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272491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2813426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615184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 de workload.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Workload ID + Secrets Store CSI: los pods leen Key Vault sin secretos a mano.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3383280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471794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273552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Registry privado (Private Link) + escaneo de vulnerabilidades.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02920" y="404164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4" y="4130162"/>
            <a:ext cx="225308" cy="2253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69848" y="3931920"/>
            <a:ext cx="7571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y detección.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add-on (bloquea pods privilegiados) + Defender for Containers.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con los riesgos de contenedores del curso: imágenes, registro, orquestador, contenedor y host.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Functions: serverless no es “sin seguridad”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2704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615562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71600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 App Service.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sobre la plataforma App Service: HTTPS, identity y red incluidos.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27685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365370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121408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de endpoints.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function keys son solo el primer nivel; producción → Entra ID / App Service Auth.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30266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1151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871216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para todo binding (Storage, Service Bus, Key Vault): cero connection strings.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377647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864986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621024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propias del serverless.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Serverless Top 10: inyección por eventos, permisos excesivos, dependencias vulnerables.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02920" y="4297680"/>
            <a:ext cx="8138160" cy="502920"/>
          </a:xfrm>
          <a:prstGeom prst="roundRect">
            <a:avLst>
              <a:gd name="adj" fmla="val 16364"/>
            </a:avLst>
          </a:prstGeom>
          <a:solidFill>
            <a:srgbClr val="E2F6F3"/>
          </a:solidFill>
          <a:ln/>
        </p:spPr>
      </p:sp>
      <p:sp>
        <p:nvSpPr>
          <p:cNvPr id="17" name="Text 11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mental: 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función = un microservicio con su propio menor privilegio.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comparativa de decisión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103120"/>
                <a:gridCol w="19202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 de la carga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identity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ID (por pod)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identity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Aislamiento de entrada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restrictions / 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Clúster privado + ingress interno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level + PE (Premium)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Microsegmentación interna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(una app)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policies entre pods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(una función)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 references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Store CSI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 references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Gobierno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add-on (Gatekeeper)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App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Containers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App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es el mismo; la herramienta cambia de nombre según el servicio.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exposición y hardening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EXPOSICIÓN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de ataque: inventariar antes de reducir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80154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63040"/>
            <a:ext cx="7571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= todo lo alcanzable + todo lo explotable.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públicas, puertos, endpoints PaaS públicos, credenciales, permisos.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58775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676266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359152"/>
            <a:ext cx="7571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inventario.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IPs públicas hay? ¿Qué puertos de administración están abiertos? ¿Qué PaaS tienen acceso público?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34838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5723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255264"/>
            <a:ext cx="7571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(inventario + attack paths), Prowler/CloudSploit, Network Watcher.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EXPOSICIÓN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decálogo de mínima exposición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VM con IP pública → Azure Bastion.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84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3852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de admin cerrados; si se necesitan → JIT VM access.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42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59689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sin acceso público → private endpoints.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3009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2552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 controlado: todo por el firewall del hub (reglas FQDN).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9593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91363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en todos los NSG.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128016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en todo; HTTP bloqueado por Policy.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984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193852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credenciales en código → managed identities.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642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259689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legacy deshabilitados (FTP, basic auth, SMBv1).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3009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3255264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aplicados y auditados: MCSB / CIS.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95935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66360" y="391363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 como código y como política.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EXPOSICIÓN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continuo, no evento único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407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62927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71600"/>
            <a:ext cx="7571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hardening se degrada solo.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recursos, excepciones “temporales”, drift de configuración.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31800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40651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148840"/>
            <a:ext cx="7571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como backlog de hardening.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Priorizado por riesgo, siempre disponible.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3063240"/>
            <a:ext cx="1847088" cy="777240"/>
          </a:xfrm>
          <a:prstGeom prst="roundRect">
            <a:avLst>
              <a:gd name="adj" fmla="val 1058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76072" y="30632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(Policy)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364992"/>
            <a:ext cx="182880" cy="1828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606040" y="3063240"/>
            <a:ext cx="1847088" cy="777240"/>
          </a:xfrm>
          <a:prstGeom prst="roundRect">
            <a:avLst>
              <a:gd name="adj" fmla="val 1058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2679192" y="30632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(score / Prowler)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3364992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709160" y="3063240"/>
            <a:ext cx="1847088" cy="777240"/>
          </a:xfrm>
          <a:prstGeom prst="roundRect">
            <a:avLst>
              <a:gd name="adj" fmla="val 1058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4782312" y="30632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Remediar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3364992"/>
            <a:ext cx="182880" cy="18288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812280" y="3063240"/>
            <a:ext cx="1847088" cy="777240"/>
          </a:xfrm>
          <a:prstGeom prst="roundRect">
            <a:avLst>
              <a:gd name="adj" fmla="val 1058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6885432" y="30632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02920" y="4069080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1E2761"/>
          </a:solidFill>
          <a:ln/>
        </p:spPr>
      </p:sp>
      <p:sp>
        <p:nvSpPr>
          <p:cNvPr id="22" name="Text 15"/>
          <p:cNvSpPr/>
          <p:nvPr/>
        </p:nvSpPr>
        <p:spPr>
          <a:xfrm>
            <a:off x="731520" y="406908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mínima exposición no es una lista de checkboxes, es una propiedad emergente del diseño.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con Zentyal + CSPM con CloudSploit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Cloud-Lab: Lab_HubSpoke_Zentyal.md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en dos partes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la arquitectura hub-and-spoke con un firewall real y luego auditamos su postura.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813816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299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2140610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1051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— Despliegue y microsegmentación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219456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con una VM Linux Zentyal Server como NVA: firewall, router, NAT e IDS/IPS (Suricata). Sigue la guía Lab_HubSpoke_Zentyal.md.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3063240"/>
            <a:ext cx="813816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344728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" y="3557930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2278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— CSPM con CloudSploit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17320" y="36118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la suscripción con CloudSploit (Aqua) para descubrir malas configuraciones de la arquitectura recién creada.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PARTE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con Zentyal (NVA + IDS/IPS)</a:t>
            </a:r>
            <a:endParaRPr lang="en-US" sz="2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937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 de la teoría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 en el laboratorio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Hub-and-spoke (Bloque 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Hub-VNet 10.0/16 + Spoke1 10.1/16 + Spoke2 10.2/16 con peering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Anatomía del hub / NVA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Zentyal dual-NIC: firewall, router, NAT e IDS/IPS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Egreso controlado por el 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UDR 0.0.0.0/0 → VirtualAppliance; NAT/masquerade a Internet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Peering no transitivo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UDR Spoke1↔Spoke2 → Zentyal: inter-spoke forzado a inspección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Microsegmentación (Bloque 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NSG por subred: Back (SSH+8443), internas solo RFC 1918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de amenazas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Suricata (emerging-scan/shellcode/dos) detecta nmap y reverse shells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Watcher: Next hop, Effective routes, Connection troubleshoot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Pruebas: nmap -sS, shell inversa con netcat, flood ICMP → alertas en /var/log/suricata/fast.log.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PARTE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 de la arquitectura con CloudSploit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CloudSploit (Aqua):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 open source (Node.js) que audita Azure/AWS/GCP contra cientos de checks y mapea a CIS, PCI e HIPAA.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013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service principal de solo lectura (rol Reader sobre la suscripción).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3682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350008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de CloudSploit + npm install; configurar config.js (ApplicationID, KeyValue, DirectoryID, SubscriptionID).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9352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916936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./index.js --console=table --ignore-ok  y  --compliance=cis.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502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483864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hallazgos: --csv=hallazgos.csv --json=hallazgos.json.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E2F6F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148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giro didáctico: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auditan la misma arquitectura que acaban de construir — es a la vez la defensa (Zentyal) y el objeto auditado.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645920"/>
            <a:ext cx="4572000" cy="45720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repaso y referencias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344168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 en el hub y qué nunca debe ir?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856232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83794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peering no transitivo es una característica de seguridad?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368296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35000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gana un NSG al usar ASGs en vez de IPs?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880360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86207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detectó Suricata que un NSG no habría visto?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730752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del lab (Cloud-Lab): github.com/malevarro/Cloud-Lab/blob/main/Lab_HubSpoke_Zentyal.md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CloudSploit (Aqua): github.com/aquasecurity/cloudsploit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Hub-spoke topology: learn.microsoft.com/azure/architecture/networking/architecture/hub-spoke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strategy: learn.microsoft.com/azure/well-architected/security/segmentation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security · Securing Functions · App Service baseline (Microsoft Learn)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  ·  manuelvargasrojas@cedoc.edu.co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2 — Diseño de Arquitecturas Seguras en Azure</dc:title>
  <dc:subject>PptxGenJS Presentation</dc:subject>
  <dc:creator>Manuel Alejandro Vargas Rojas</dc:creator>
  <cp:lastModifiedBy>Manuel Alejandro Vargas Rojas</cp:lastModifiedBy>
  <cp:revision>1</cp:revision>
  <dcterms:created xsi:type="dcterms:W3CDTF">2026-07-05T08:39:23Z</dcterms:created>
  <dcterms:modified xsi:type="dcterms:W3CDTF">2026-07-05T08:39:23Z</dcterms:modified>
</cp:coreProperties>
</file>