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920240"/>
            <a:ext cx="5486400" cy="54864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108960"/>
            <a:ext cx="4389120" cy="438912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SECOPS · SESIÓN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Aplicaciones y DevSecOps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· OWASP Top 10:2025 · SCA · SAST · DAST · IAST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2186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4 horas  ·  2 h teoría  +  2 h laboratorio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2926080" cy="0"/>
          </a:xfrm>
          <a:prstGeom prst="line">
            <a:avLst/>
          </a:prstGeom>
          <a:noFill/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6966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manuelvargasrojas@cedoc.edu.co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estamos en el curso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95" y="176881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04088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compartida, gestión de riesgos, threat modeling (STRIDE/OWASP), Zero Trust.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46304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64208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27" y="176881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seguras: hub-and-spoke, microsegmentación, App Service/AKS/Functions, mínima exposición.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44184" y="1463040"/>
            <a:ext cx="2596896" cy="246888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45352" y="1664208"/>
            <a:ext cx="475488" cy="47548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959" y="176881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352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(hoy)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45352" y="26517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Bajamos al código y al pipeline: ¿cómo evitamos construir la vulnerabilidad en primer lugar?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del curso: proteger el entorno (S1) → diseñar la defensa (S2) → asegurar la aplicación (S3).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seguridad de aplicaciones?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brechas explotan la aplicación.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 datacenter (que ya opera el proveedor): el código y sus dependencias son el objetivo.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tarde cuesta mucho más.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defecto arreglado en producción cuesta órdenes de magnitud más que en diseño/código.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construye, no se prueba al final.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propiedad presente en cada etapa del ciclo, no una auditoría final.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411480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E2F6F3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148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en el código es más barato y efectivo que detectar en producción.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807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cómo se integra la seguridad en el ciclo de desarrollo (Secure SDLC) y el enfoque shift-left.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02996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cultura, el pipeline y los quality gates de DevSecOps.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84378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6148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y ejemplificar las categorías del OWASP Top 10:2025.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753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SCA, SAST, DAST e IAST: qué analizan, cuándo, fortalezas y límites.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3068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2245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vulnerabilidades reales con herramientas (Snyk, Trivy, SonarQube, Checkov, Qwiet, OWASP ZAP).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el ciclo de desarrollo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SDLC al Secure SDLC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S-SDLC inserta una actividad de seguridad en CADA fase, no una auditoría al final: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SDLC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 de seguridad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Requisitos de seguridad, casos de abuso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 (S1), revisión de arquitectura (S2)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Codificación segura, SAST/SCA en el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DAST, IAST, pruebas de seguridad, pentest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de contenedores/IaC, firma de artefactos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Monitoreo, gestión de vulnerabilidades, respuesta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mover la seguridad al inicio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92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corregir lo más temprano posible.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a la izquierda (diseño, código), más barato y rápido es el arreglo.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151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7036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774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las pruebas tardías.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y pentest siguen: shift-left las complementa (defense in depth en el proceso).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5295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61809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2918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tangible.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SAST en el IDE marca la inyección mientras se escribe; un DAST la hallaría semanas después.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para prevenir en volumen; derecha para confirmar lo explotable.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segura: fundamentos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738" y="1560698"/>
            <a:ext cx="225308" cy="225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entrada, codificar salida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" y="19659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en el cliente; contra XSS al renderizar.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32588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370" y="1560698"/>
            <a:ext cx="225308" cy="225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9856" y="19659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inyección SQL: datos ≠ código.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44184" y="132588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90488" y="1472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02" y="1560698"/>
            <a:ext cx="225308" cy="225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65976" y="14538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fuera del código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0488" y="196596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identities / Key Vault (Sesión 1).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88036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" y="30266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8" y="3115178"/>
            <a:ext cx="225308" cy="225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24712" y="30083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privilegio en la app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9224" y="3520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sus identidades de servicio.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288036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19856" y="30266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370" y="3115178"/>
            <a:ext cx="225308" cy="225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95344" y="30083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correcto de errores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9856" y="3520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¡A10:2025! No failing open, no filtrar detalles internos.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44184" y="2880360"/>
            <a:ext cx="2596896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30266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002" y="3115178"/>
            <a:ext cx="225308" cy="2253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65976" y="30083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actualizadas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0488" y="35204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suministro es A03:2025.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cultura, pipeline y gates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DevSecOps?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92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con la seguridad integrada.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de todos, no de un equipo aislado al final.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151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7036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774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 code.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se automatiza, se versiona y se ejecuta en el pipeline, igual que las pruebas.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5295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61809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2918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cultural. </a:t>
            </a:r>
            <a:pPr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Derribar silos; la seguridad como habilitador, no como bloqueador; equipos autónomos punta a punta.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10512"/>
            <a:ext cx="219456" cy="1828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E2F6F3"/>
          </a:solidFill>
          <a:ln/>
        </p:spPr>
      </p:sp>
      <p:sp>
        <p:nvSpPr>
          <p:cNvPr id="16" name="Text 10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la seguridad de un control final a una práctica continua y automatizada.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pipeline: un control por fase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típica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/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Threat Dragon, MS TMT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SCA en el IDE, escaneo de secretos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SonarLint, Snyk, gitleaks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SAST, SCA, análisis de IaC, SBOM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SonarQube, Snyk, Checkov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DAST, IAST, pruebas de 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ZAP, agentes IAST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Escaneo de imágenes, verificación/firma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Trivy, cosign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Logging, detección, gestión de vulns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SIEM, Defender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mapa DevSecOps del curso, ahora con nombres concretos.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gates: la automatización que decide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gate es una condición evaluada automáticamente.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cumple, el pipeline detiene el despliegue.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vulnerabilidades críticas nuevas · cobertura ≥ 80% · sin secretos en el commit · imagen sin CVE alto.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seguridad como código ejecutable.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hardening que no se degrada (Sesión 2).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name="adj" fmla="val 13846"/>
            </a:avLst>
          </a:prstGeom>
          <a:solidFill>
            <a:srgbClr val="FBEED3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Balance: </a:t>
            </a:r>
            <a:pPr indent="0" marL="0">
              <a:buNone/>
            </a:pPr>
            <a:r>
              <a:rPr lang="en-US" sz="1250" dirty="0">
                <a:solidFill>
                  <a:srgbClr val="8A6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muy estrictos frustran a los equipos; muy laxos no protegen. Se calibran con el apetito de riesgo.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incremental de madurez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847088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6072" y="22128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y tardía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26517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 final, revisión manual.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156" y="224028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463040"/>
            <a:ext cx="1847088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00984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30098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679192" y="22128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puntuales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715768" y="26517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automatizadas, sin gates.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224028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09160" y="1463040"/>
            <a:ext cx="1847088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04104" y="166420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4"/>
          <p:cNvSpPr/>
          <p:nvPr/>
        </p:nvSpPr>
        <p:spPr>
          <a:xfrm>
            <a:off x="540410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782312" y="22128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con gates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18888" y="26517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todo el pipeline.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240280"/>
            <a:ext cx="182880" cy="1828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812280" y="1463040"/>
            <a:ext cx="1847088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07224" y="16642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750722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885432" y="221284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y mejora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22008" y="26517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continuo, optimización.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2920" y="361188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28" name="Text 23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 SAST en el pipeline (mayor cobertura con menor esfuerzo).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buscamos exactamente? Un catálogo común de riesgos: el OWASP Top 10.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OWASP Top 10?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8929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630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concientización.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sobre los 10 riesgos más críticos de seguridad en aplicaciones web.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6151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7036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3774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datos reales.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edición 2025 analiza +175.000 CVE y 589 CWE; se actualiza cada 3-4 años.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5295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61809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29184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estándar de cumplimiento.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punto de partida y un lenguaje común, no una checklist exhaustiva.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02920" y="170078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92224"/>
            <a:ext cx="219456" cy="21945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2920" y="41605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E2F6F3"/>
          </a:solidFill>
          <a:ln/>
        </p:spPr>
      </p:sp>
      <p:sp>
        <p:nvSpPr>
          <p:cNvPr id="16" name="Text 10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vigente: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(publicada en enero de 2026).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(A01–A05)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063240"/>
                <a:gridCol w="4297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una frase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Access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acceden a lo que no deberían (ahora incluye SSRF).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Misconfiguration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Configuraciones inseguras por defecto o mal aplicadas.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Supply Chain Failures  (nueva)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Dependencias, paquetes y pipeline comprometidos.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sensibles sin cifrar o con cripto débil.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SQLi, XSS, comandos: datos no confiables como código.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= categoría nueva en 2025.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(A06–A10)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4612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una frase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Insecure Design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Fallas de diseño que ningún control tardío corrige.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débil, sesiones mal gestionadas.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or Data Integrity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Actualizaciones/datos sin verificar integridad.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6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Logging &amp; Alerting Failures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detecta ni se responde a los ataques.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A61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Mishandling of Exceptional Conditions  (nueva)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Manejo incorrecto de errores: failing open, lógica rota.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 respecto a 2021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3220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720718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1732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categorías nuevas.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 Software Supply Chain Failures y A10 Mishandling of Exceptional Conditions.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50088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589398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28600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 sube del #5 al #2.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 la nube — ¡lo vimos con CSPM en las Sesiones 1 y 2!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3695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4580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se absorbe en Broken Access Control; Injection baja del #3 al #5.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crítica, pero el foco se mueve.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4114800"/>
            <a:ext cx="8138160" cy="594360"/>
          </a:xfrm>
          <a:prstGeom prst="roundRect">
            <a:avLst>
              <a:gd name="adj" fmla="val 13846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114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se mueve hacia configuración y cadena de suministro — justo lo que DevSecOps y el CSPM atacan.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 10 como hilo con el curso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126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que ya conocemos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 / A05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 STRIDE (Sesión 1): elevación de privilegios, tampering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CSPM con Defender / Prowler / CloudSploit (Sesiones 1 y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 / A08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 y firma de artefactos (hoy en el laboratorio)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seguro y microsegmentación (Sesión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categoría tiene un control que ya conocemos. </a:t>
            </a:r>
            <a:pPr algn="ctr"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sumamos las herramientas que las detectan en el código.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737360"/>
            <a:ext cx="4754880" cy="475488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840480" cy="384048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Volvemos con los métodos de análisis: SCA, SAST, DAST e IAST.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análisis: SCA, SAST, DAST e IAST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ANÁLISIS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lentes complementarias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4708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178308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4871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76072" y="28529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de terceros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1554480"/>
            <a:ext cx="184708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27832" y="178308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938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4871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679192" y="28529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(caja blanca)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554480"/>
            <a:ext cx="184708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30952" y="178308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385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4871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782312" y="28529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corriendo (caja negra)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554480"/>
            <a:ext cx="1847088" cy="1828800"/>
          </a:xfrm>
          <a:prstGeom prst="roundRect">
            <a:avLst>
              <a:gd name="adj" fmla="val 45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34072" y="178308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938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4871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885432" y="28529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instrumentada (caja gris)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3794760"/>
            <a:ext cx="8138160" cy="868680"/>
          </a:xfrm>
          <a:prstGeom prst="roundRect">
            <a:avLst>
              <a:gd name="adj" fmla="val 9474"/>
            </a:avLst>
          </a:prstGeom>
          <a:solidFill>
            <a:srgbClr val="E2F6F3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3794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herramienta encuentra todo. </a:t>
            </a:r>
            <a:pPr algn="ctr" indent="0" marL="0">
              <a:buNone/>
            </a:pPr>
            <a:r>
              <a:rPr lang="en-US" sz="14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mira la app desde un ángulo y un momento distinto — se combinan, no compiten.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SCA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1556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analiza.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dependencias de terceros (librerías, paquetes, imágenes base) y sus CVE conocidos.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76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6537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214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IDE y en el build; continuo.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1151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7121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70-90% del código moderno es de terceros → ataca A03 (cadena de suministro).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776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86498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621024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típica.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por dependencia, severidad, versión que corrige y el path transitivo.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y Trivy · complemento: SBOM (inventario de componentes).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SAST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1556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analiza.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fuente (o binario) SIN ejecutarlo — caja blanca.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76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6537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214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temprano: en el IDE mientras se escribe y en el build.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1151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7121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problema en la línea exacta; ideal para inyección y secretos embebidos.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776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86498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621024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 el runtime → falsos positivos; no detecta fallas de configuración del entorno.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SonarQube/SonarLint y Qwiet AI · Checkov = SAST aplicado a IaC.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DAST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Application Security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1556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analiza.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 ejecución, desde afuera, sin ver el código — caja negra.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76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6537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214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Test, sobre un ambiente desplegado.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1151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7121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solo aparece corriendo: config real, auth, XSS reflejado, headers. Bajos falsos positivos.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776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86498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621024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Tardío; no señala la línea de código; la cobertura depende de cuánto recorra la app.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1429"/>
            </a:avLst>
          </a:prstGeom>
          <a:solidFill>
            <a:srgbClr val="2EC4B6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 (nuevo): </a:t>
            </a:r>
            <a:pPr indent="0" marL="0">
              <a:buNone/>
            </a:pPr>
            <a:r>
              <a:rPr lang="en-US" sz="12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— baseline scan sobre nodejs-goof en ejecución.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· IAST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Application Security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434" y="1615562"/>
            <a:ext cx="225308" cy="2253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3716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analiza.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 ejecución pero desde adentro, con un agente/instrumentación — caja gris.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2768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34" y="2365370"/>
            <a:ext cx="225308" cy="2253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9848" y="21214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pruebas funcionales/automatizadas (QA): ejecución real + visibilidad del código.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026664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4" y="3115178"/>
            <a:ext cx="225308" cy="2253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69848" y="2871216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SAST y DAST: señala la línea de código de una vulnerabilidad confirmada en runtime.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776472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4" y="386498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69848" y="3621024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Límite. </a:t>
            </a:r>
            <a:pPr indent="0" marL="0">
              <a:buNone/>
            </a:pPr>
            <a:r>
              <a:rPr lang="en-US" sz="13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instrumentar la app (agente), soporte por lenguaje; puede añadir overhead.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lab: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explica conceptualmente; demo de agente en la app Node.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ANÁLISIS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comparativa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fuente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(externo)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(instrum.)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/ build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 / build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QA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¿Ejecuta la app?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Fortaleza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CVE terceros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Línea, temprano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Explotable real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+ confirm.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Falsos positivos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bajos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objetivo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A05, A02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A01, A05, A07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A01, A05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diapositiva para memorizar: rojo marca el punto débil de cada método (falsos positivos).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ANÁLISIS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usar? Todos, en su momento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0208" cy="1737360"/>
          </a:xfrm>
          <a:prstGeom prst="roundRect">
            <a:avLst>
              <a:gd name="adj" fmla="val 4737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276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28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+ SAST en IDE/build: rápido, barato, temprano. Prevención en volumen.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90872" y="1417320"/>
            <a:ext cx="3950208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2763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72821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627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Shift-right (automatizado)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19472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DAST/IAST en Test: confirma lo explotable en un entorno real.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38328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E2F6F3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</a:t>
            </a:r>
            <a:pPr indent="0" marL="0">
              <a:buNone/>
            </a:pPr>
            <a:r>
              <a:rPr lang="en-US" sz="13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SAST/SCA para volumen y prevención; DAST/IAST para confirmación y realismo.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alimentan el mismo backlog priorizado por riesgo (el ciclo de gestión de la Sesión 1).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cómo determinar vulnerabilidades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toolkit del laboratorio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38404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 + SAST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Dependencias, código, contenedores, 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 + contenedores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Imágenes, filesystem y config (sin cuenta)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/ SonarLint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y seguridad del código (servidor self-hosted)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de 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Dockerfile, Terraform, Kubernetes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Qwiet 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de flujo de código (SaaS)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en ejecución (lo agregamos)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ejecutar el análisis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96896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184" y="18105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317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repositorio (SaaS)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85292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GitHub y escanear en cada push: Snyk, SonarQube/SonarCloud, Qwiet.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1463040"/>
            <a:ext cx="2596896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3456432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142232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81051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56432" y="23317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IDE (shift-left máximo)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56432" y="285292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en VS Code que marcan al escribir: SonarLint, Snyk, Checkov, Trivy, Qwiet.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44184" y="1463040"/>
            <a:ext cx="2596896" cy="2286000"/>
          </a:xfrm>
          <a:prstGeom prst="roundRect">
            <a:avLst>
              <a:gd name="adj" fmla="val 36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27064" y="16642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6227064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912864" y="17099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81051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27064" y="233172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 / pipeline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27064" y="285292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integrables en CI/CD que escanean imágenes y código: Trivy, Snyk, Checkov, ZAP.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recorre las tres formas sobre dos apps deliberadamente vulnerables.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hallazgo a corrección: el flujo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4984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149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03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7784" y="2478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2112264"/>
            <a:ext cx="137160" cy="137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57984" y="150876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0048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267004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03704" y="2203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212848" y="2478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¿explotable?</a:t>
            </a:r>
            <a:endParaRPr lang="en-US" sz="8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12264"/>
            <a:ext cx="137160" cy="1371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813048" y="150876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25112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432511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858768" y="2203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867912" y="2478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 + contexto</a:t>
            </a:r>
            <a:endParaRPr lang="en-US" sz="8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2112264"/>
            <a:ext cx="137160" cy="1371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68112" y="150876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80176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598017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513832" y="2203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Remediar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522976" y="2478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/ parametrizar / config</a:t>
            </a:r>
            <a:endParaRPr lang="en-US" sz="8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112264"/>
            <a:ext cx="137160" cy="13716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123176" y="150876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352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7635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168896" y="2203704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Re-escanear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178040" y="24780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02920" y="3355848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34" y="3444362"/>
            <a:ext cx="225308" cy="2253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69848" y="3200400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se corrige igual.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hallazgos se mitigan, otros se aceptan con justificación (gestión de riesgos, S1).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502920" y="4105656"/>
            <a:ext cx="402336" cy="402336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434" y="4194170"/>
            <a:ext cx="225308" cy="2253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69848" y="3950208"/>
            <a:ext cx="7571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encuentra; el criterio decide. </a:t>
            </a:r>
            <a:pPr indent="0" marL="0">
              <a:buNone/>
            </a:pPr>
            <a:r>
              <a:rPr lang="en-US" sz="125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del lab es entrenar ese criterio de seguridad.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206240" cy="420624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EC4B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vulnerabilidades con herramientas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141732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Apps: nodejs-goof · AzureGoat (IaC)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03720" y="1691640"/>
            <a:ext cx="1554480" cy="1554480"/>
          </a:xfrm>
          <a:prstGeom prst="ellipse">
            <a:avLst/>
          </a:prstGeom>
          <a:solidFill>
            <a:srgbClr val="2EC4B6">
              <a:alpha val="22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208483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de la teoría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Snyk y Trivy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las dependencias de nodejs-goof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SonarLint en el IDE; Qwiet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de 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Checkov y Trivy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el Terraform de AzureGoat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las imágenes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4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nodejs-goof en ejecución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Explicación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demo conceptual de agente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 / avanzado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Desplegar AzureGoat (Terraform)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3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DAST y CSPM sobre Azure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laboratorio (120 min)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33272" y="1325880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739" y="1406347"/>
            <a:ext cx="204826" cy="204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128016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Git en el equipo; apps en GitHub; red del Lab 2 lista.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88366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33272" y="1901952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1982419"/>
            <a:ext cx="204826" cy="204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7048" y="1856232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en repositorio (SaaS).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Snyk, SonarQube/SonarCloud y Qwiet con GitHub.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45973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033272" y="2478024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" y="2558491"/>
            <a:ext cx="204826" cy="204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27048" y="2432304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en el IDE.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Extensiones de VS Code marcando vulnerabilidades al escribir.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303580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50292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033272" y="3054096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" y="3134563"/>
            <a:ext cx="204826" cy="2048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27048" y="3008376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contenerizado (ACI).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y Checkov sobre imágenes e IaC; SonarQube como servicio.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361188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50292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1033272" y="3630168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" y="3710635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27048" y="3584448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con OWASP ZAP.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escanea la app en ejecución por la red privada del Lab 2.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02920" y="418795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3"/>
          <p:cNvSpPr/>
          <p:nvPr/>
        </p:nvSpPr>
        <p:spPr>
          <a:xfrm>
            <a:off x="50292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1033272" y="4206240"/>
            <a:ext cx="365760" cy="365760"/>
          </a:xfrm>
          <a:prstGeom prst="ellipse">
            <a:avLst/>
          </a:prstGeom>
          <a:solidFill>
            <a:srgbClr val="E4EEF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39" y="4286707"/>
            <a:ext cx="204826" cy="2048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27048" y="416052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Remediación (+ AzureGoat opcional).  </a:t>
            </a:r>
            <a:pPr indent="0" marL="0">
              <a:buNone/>
            </a:pPr>
            <a:r>
              <a:rPr lang="en-US" sz="1200" dirty="0">
                <a:solidFill>
                  <a:srgbClr val="263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una vuln por método; opcionalmente desplegar AzureGoat para DAST/CSPM.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4572000" cy="45720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repaso y referencias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344168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a SAST de DAST?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37944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categoría del Top 10:2025 es nueva y por qué?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368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5000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SCA es clave hoy?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método confirma que una vulnerabilidad es explotable?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30752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10:2025 — owasp.org/Top10/2025/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— zaproxy.org/docs/docker/baseline-scan/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 · Trivy · SonarQube · Checkov · Qwiet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base del lab — github.com/malevarro/DevSecOps-Lab/blob/master/Laborarotio 2.md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 ·  manuelvargasrojas@cedoc.edu.co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3 — Seguridad de Aplicaciones y DevSecOps</dc:title>
  <dc:subject>PptxGenJS Presentation</dc:subject>
  <dc:creator>Manuel Alejandro Vargas Rojas</dc:creator>
  <cp:lastModifiedBy>Manuel Alejandro Vargas Rojas</cp:lastModifiedBy>
  <cp:revision>1</cp:revision>
  <dcterms:created xsi:type="dcterms:W3CDTF">2026-07-06T23:12:37Z</dcterms:created>
  <dcterms:modified xsi:type="dcterms:W3CDTF">2026-07-06T23:12:37Z</dcterms:modified>
</cp:coreProperties>
</file>