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920240"/>
            <a:ext cx="5486400" cy="54864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108960"/>
            <a:ext cx="4389120" cy="438912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SECOPS · SESIÓN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Secretos y CI/CD con GitHub Actions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02920" y="28529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 los secretos · cómo se gestionan · CI/CD · GitHub Actions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2735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4 horas  ·  1.5 h teoría  +  2.5 h laboratorio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2926080" cy="0"/>
          </a:xfrm>
          <a:prstGeom prst="line">
            <a:avLst/>
          </a:prstGeom>
          <a:noFill/>
          <a:ln w="1905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manuelvargasrojas@cedoc.edu.co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 en el curso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96896" cy="2514600"/>
          </a:xfrm>
          <a:prstGeom prst="roundRect">
            <a:avLst>
              <a:gd name="adj" fmla="val 327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" y="17688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1–2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4088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compartida, Zero Trust, arquitecturas seguras (hub-and-spoke, microsegmentación).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3552" y="1463040"/>
            <a:ext cx="2596896" cy="2514600"/>
          </a:xfrm>
          <a:prstGeom prst="roundRect">
            <a:avLst>
              <a:gd name="adj" fmla="val 327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6642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327" y="176881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aplicaciones y DevSecOps: OWASP Top 10, SAST/SCA/DAST.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44184" y="1463040"/>
            <a:ext cx="2596896" cy="251460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5352" y="1664208"/>
            <a:ext cx="475488" cy="47548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59" y="176881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5352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(hoy)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45352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piezas que sostienen DevSecOps: los secretos (gestión sin filtrarlos) y CI/CD con GitHub Actions.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conectamos código y despliegue: cómo automatizar (CI/CD) sin exponer credenciales (secretos).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807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80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9844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es un secreto, sus tipos y por qué su mala gestión es un riesgo crítico.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el ciclo de vida y las buenas prácticas de gestión de secretos (rotación, menor privilegio, gestores).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84378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76148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CI/CD, sus etapas y sus aplicaciones más comunes.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753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4930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los conceptos de GitHub Actions (workflow, evento, job, step, action, runner).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3068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22452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pipeline build → test → deploy que consume GitHub Secrets de forma segura.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secretos?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secreto?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007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8929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630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credencial de acceso.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dato de autenticación o autorización que da acceso a un sistema y que no debe ser público.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6151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7036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3774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“información sensible” cualquiera.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personal es sensible; un secreto es una llave — su valor está en que abre una puerta.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3566160"/>
            <a:ext cx="8138160" cy="914400"/>
          </a:xfrm>
          <a:prstGeom prst="roundRect">
            <a:avLst>
              <a:gd name="adj" fmla="val 9000"/>
            </a:avLst>
          </a:prstGeom>
          <a:solidFill>
            <a:srgbClr val="E2F6F3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mental:  </a:t>
            </a:r>
            <a:pPr algn="ctr" indent="0" marL="0">
              <a:buNone/>
            </a:pPr>
            <a:r>
              <a:rPr lang="en-US" sz="1500" i="1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 ese dato alguien puede autenticarse o firmar como tú, es un secreto.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secretos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96896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721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738" y="1560698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45389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" y="1929384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BD, cuentas de servicio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325880"/>
            <a:ext cx="2596896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9856" y="14721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370" y="1560698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5344" y="145389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/ tokens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19856" y="1929384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Stripe, servicios SaaS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44184" y="1325880"/>
            <a:ext cx="2596896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0488" y="14721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02" y="1560698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145389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y llaves privadas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90488" y="1929384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SSH, firma de código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2761488"/>
            <a:ext cx="2596896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" y="29077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8" y="2996306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24712" y="288950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de conexión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9224" y="336499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Server=...;User=...;Pwd=...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73552" y="2761488"/>
            <a:ext cx="2596896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19856" y="29077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370" y="2996306"/>
            <a:ext cx="225308" cy="2253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95344" y="288950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/ client secrets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19856" y="336499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registrations, service principals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44184" y="2761488"/>
            <a:ext cx="2596896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0488" y="29077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002" y="2996306"/>
            <a:ext cx="225308" cy="2253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65976" y="288950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de cifrado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90488" y="336499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simétricas, KMS keys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1 evitamos las contraseñas con managed identities; en la Sesión 3, un secreto filtrado es hallazgo típico de SAST.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filtran (y cuánto cuesta)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322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2071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1732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causas más comunes.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Hardcodeados en el código, subidos al repo Git, en config sin cifrar, en logs, en imágenes o pegados en chats.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5008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5893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8600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 público se escanea en minutos.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buscan secretos automáticamente; un token expuesto se explota casi de inmediato.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3695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4580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15468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de Git es persistente.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el secreto en un commit posterior NO lo elimina: sigue en la historia del repositorio.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4114800"/>
            <a:ext cx="8138160" cy="594360"/>
          </a:xfrm>
          <a:prstGeom prst="roundRect">
            <a:avLst>
              <a:gd name="adj" fmla="val 13846"/>
            </a:avLst>
          </a:prstGeom>
          <a:solidFill>
            <a:srgbClr val="FBEED3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A03 (Software Supply Chain): </a:t>
            </a:r>
            <a:pPr indent="0" marL="0">
              <a:buNone/>
            </a:pPr>
            <a:r>
              <a:rPr lang="en-US" sz="130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vector recurrente de brechas reales.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secretos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SECRETOS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de un secreto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060704" cy="1554480"/>
          </a:xfrm>
          <a:prstGeom prst="roundRect">
            <a:avLst>
              <a:gd name="adj" fmla="val 689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2104" y="1700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fuerte, aleatorio, único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2258568"/>
            <a:ext cx="109728" cy="1097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82496" y="1554480"/>
            <a:ext cx="1060704" cy="1554480"/>
          </a:xfrm>
          <a:prstGeom prst="roundRect">
            <a:avLst>
              <a:gd name="adj" fmla="val 689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11680" y="1700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201168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709928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28216" y="2432304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exponerlo</a:t>
            </a:r>
            <a:endParaRPr lang="en-US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72" y="2258568"/>
            <a:ext cx="109728" cy="1097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862072" y="1554480"/>
            <a:ext cx="1060704" cy="1554480"/>
          </a:xfrm>
          <a:prstGeom prst="roundRect">
            <a:avLst>
              <a:gd name="adj" fmla="val 689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191256" y="1700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3191256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889504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907792" y="2432304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cifrado, en un gestor</a:t>
            </a:r>
            <a:endParaRPr lang="en-US" sz="8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348" y="2258568"/>
            <a:ext cx="109728" cy="10972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041648" y="1554480"/>
            <a:ext cx="1060704" cy="1554480"/>
          </a:xfrm>
          <a:prstGeom prst="roundRect">
            <a:avLst>
              <a:gd name="adj" fmla="val 689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370832" y="1700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4370832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069080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087368" y="2432304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inyectado en runtime</a:t>
            </a:r>
            <a:endParaRPr lang="en-US" sz="8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2258568"/>
            <a:ext cx="109728" cy="10972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221224" y="1554480"/>
            <a:ext cx="1060704" cy="1554480"/>
          </a:xfrm>
          <a:prstGeom prst="roundRect">
            <a:avLst>
              <a:gd name="adj" fmla="val 689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550408" y="1700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5550408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248656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266944" y="2432304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periódico y ante sospecha</a:t>
            </a:r>
            <a:endParaRPr lang="en-US" sz="8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258568"/>
            <a:ext cx="109728" cy="10972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400800" y="1554480"/>
            <a:ext cx="1060704" cy="1554480"/>
          </a:xfrm>
          <a:prstGeom prst="roundRect">
            <a:avLst>
              <a:gd name="adj" fmla="val 689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729984" y="1700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29"/>
          <p:cNvSpPr/>
          <p:nvPr/>
        </p:nvSpPr>
        <p:spPr>
          <a:xfrm>
            <a:off x="6729984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6428232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Revocar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6446520" y="2432304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comprometerse</a:t>
            </a:r>
            <a:endParaRPr lang="en-US" sz="85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076" y="2258568"/>
            <a:ext cx="109728" cy="109728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7580376" y="1554480"/>
            <a:ext cx="1060704" cy="1554480"/>
          </a:xfrm>
          <a:prstGeom prst="roundRect">
            <a:avLst>
              <a:gd name="adj" fmla="val 689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909560" y="1700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34"/>
          <p:cNvSpPr/>
          <p:nvPr/>
        </p:nvSpPr>
        <p:spPr>
          <a:xfrm>
            <a:off x="790956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7607808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7626096" y="2432304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accedió y cuándo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502920" y="3383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secreto no es “créalo y olvídalo”: se gestiona a lo largo de toda su vida.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502920" y="393192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47" name="Text 39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 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que más se olvida es la rotación; automatizarla reduce el riesgo drásticamente.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SECRETOS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decálogo de buenas prácticas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en el código ni en el repositorio Git.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3852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en texto plano: cifrado en reposo y tránsito.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42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9689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secreto por servicio y por entorno.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2552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privilegio: solo el acceso mínimo necesario.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593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91363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periódica y automatizable.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128016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Revocación inmediata ante sospecha.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98424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193852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identidades sin secretos (managed identity / OIDC).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642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259689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alertas de acceso.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300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32552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secretos antes de que lleguen al repo.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9593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391363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quién administra de quién consume.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SECRETOS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viven: los gestores de secretos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guardan “a mano”: un gestor los cifra, controla el acceso y audita.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24706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3619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Secretos, llaves y certificados en Azure (Sesión 1)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08483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173346"/>
            <a:ext cx="225308" cy="2253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08483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 / GCP Secret Manager 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Equivalentes en otras nubes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263347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2721986"/>
            <a:ext cx="225308" cy="2253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63347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 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Multiplataforma, on-prem y nube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02920" y="318211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270626"/>
            <a:ext cx="225308" cy="2253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18211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Secrets 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Secretos para pipelines de CI/CD (hoy en el lab)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02920" y="373075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4" y="3819266"/>
            <a:ext cx="225308" cy="2253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37307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1Password / Bitwarden 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Gestores para humanos / equipos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Patrón: la app referencia el secreto del gestor en runtime (Key Vault references, S1); nunca lo copia al código.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SECRETOS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secretos (prevención)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322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2071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1732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secretos.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gitleaks, trufflehog y GitHub Secret Scanning detectan credenciales en el código.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5008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5893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8600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Protection.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bloquea el push que contiene un secreto antes de que llegue al repo.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3695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4580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15468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Encaja en el pipeline y en pre-commit hooks.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Code/Build del DevSecOps (Sesión 3).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4114800"/>
            <a:ext cx="8138160" cy="594360"/>
          </a:xfrm>
          <a:prstGeom prst="roundRect">
            <a:avLst>
              <a:gd name="adj" fmla="val 13846"/>
            </a:avLst>
          </a:prstGeom>
          <a:solidFill>
            <a:srgbClr val="1E2761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filtró: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rotar/revocar PRIMERO, limpiar el historial después. Rotar es lo urgente.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CI/CD?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letras, tres ideas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96896" cy="246888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99032" y="1572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Continua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2331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se integra y se prueba automáticamente (build + tests) al hacer push. Detecta errores temprano.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371600"/>
            <a:ext cx="2596896" cy="2468880"/>
          </a:xfrm>
          <a:prstGeom prst="roundRect">
            <a:avLst>
              <a:gd name="adj" fmla="val 3333"/>
            </a:avLst>
          </a:prstGeom>
          <a:solidFill>
            <a:srgbClr val="E2F6F3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5727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69664" y="1572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Continua (Delivery)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cambio que pasa CI queda listo para desplegar; el paso a producción es un botón manual (aprobación).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44184" y="1371600"/>
            <a:ext cx="2596896" cy="246888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1572768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6227064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40296" y="1572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Continuo (Deployment)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45352" y="2331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a producción es automático si pasa todos los gates. Sin intervención manual.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las dos “CD” es quién aprieta el botón: </a:t>
            </a:r>
            <a:pPr algn="ctr"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(delivery) o el pipeline (deployment).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y sus etapas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060704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73352"/>
            <a:ext cx="109728" cy="109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82496" y="1417320"/>
            <a:ext cx="1060704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1682496" y="14173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72" y="1673352"/>
            <a:ext cx="109728" cy="1097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62072" y="1417320"/>
            <a:ext cx="1060704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2862072" y="14173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348" y="1673352"/>
            <a:ext cx="109728" cy="10972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041648" y="1417320"/>
            <a:ext cx="1060704" cy="640080"/>
          </a:xfrm>
          <a:prstGeom prst="roundRect">
            <a:avLst>
              <a:gd name="adj" fmla="val 11429"/>
            </a:avLst>
          </a:prstGeom>
          <a:solidFill>
            <a:srgbClr val="2EC4B6"/>
          </a:solidFill>
          <a:ln/>
        </p:spPr>
      </p:sp>
      <p:sp>
        <p:nvSpPr>
          <p:cNvPr id="14" name="Text 9"/>
          <p:cNvSpPr/>
          <p:nvPr/>
        </p:nvSpPr>
        <p:spPr>
          <a:xfrm>
            <a:off x="4041648" y="14173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1673352"/>
            <a:ext cx="109728" cy="10972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221224" y="1417320"/>
            <a:ext cx="1060704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7" name="Text 11"/>
          <p:cNvSpPr/>
          <p:nvPr/>
        </p:nvSpPr>
        <p:spPr>
          <a:xfrm>
            <a:off x="5221224" y="14173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673352"/>
            <a:ext cx="109728" cy="10972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400800" y="1417320"/>
            <a:ext cx="1060704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20" name="Text 13"/>
          <p:cNvSpPr/>
          <p:nvPr/>
        </p:nvSpPr>
        <p:spPr>
          <a:xfrm>
            <a:off x="6400800" y="14173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076" y="1673352"/>
            <a:ext cx="109728" cy="10972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580376" y="1417320"/>
            <a:ext cx="1060704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23" name="Text 15"/>
          <p:cNvSpPr/>
          <p:nvPr/>
        </p:nvSpPr>
        <p:spPr>
          <a:xfrm>
            <a:off x="7580376" y="14173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5029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dispara el flujo →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02920" y="251460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que dispara: push, pull request, tag, schedule.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02920" y="294436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/ construye el artefacto o la imagen.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02920" y="3374136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integración y gates de seguridad (SAST/SCA/DAST, S3).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02920" y="380390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 y versiona (registro de imágenes).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02920" y="423367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a un entorno (dev → stage → prod), a veces con aprobación.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aplicaciones comunes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3200400"/>
          </a:xfrm>
          <a:prstGeom prst="roundRect">
            <a:avLst>
              <a:gd name="adj" fmla="val 2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más rápidas y frecuentes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 humanos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temprano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automatizada (gates, S3)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90872" y="1371600"/>
            <a:ext cx="3950208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comunes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19472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 test en cada PR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artefactos / imágenes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a nube (App Service, AKS, S2)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 (Terraform)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Escaneos de seguridad como gate (S3)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Releases, changelogs, notificaciones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pipeline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3560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524122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25880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es un archivo de texto versionado.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junto al código, no en clics de una consola: reproducible, revisable, con historial.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09397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182490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984248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 (trigger).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evento lo inicia (push, PR, tag, schedule, manual).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275234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284085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642616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/ jobs.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fases (build, test, deploy), su orden y dependencias.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341071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499226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300984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y secretos.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credenciales inyectadas de forma segura.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2920" y="406908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4" y="4157594"/>
            <a:ext cx="225308" cy="2253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69848" y="3959352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/ aprobaciones.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para avanzar: tests verdes, revisión, cero vulns críticas.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GitHub Actions · GitLab CI · Jenkins · Azure DevOps · CircleCI.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de los gates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80154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63040"/>
            <a:ext cx="7571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gate detiene el pipeline si no se cumple una condición.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quality gate de la Sesión 3, aplicado al despliegue.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58775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676266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359152"/>
            <a:ext cx="7571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fallidos → no avanza · vulnerabilidad crítica → no despliega · producción requiere aprobación de un revisor.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4838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5723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255264"/>
            <a:ext cx="7571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se materializa DevSecOps.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como código, dentro del pipeline.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429768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concreta de hoy: GitHub Actions.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GitHub Actions?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864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7499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17320"/>
            <a:ext cx="7571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integrado en GitHub.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flujos de trabajo directamente desde el repositorio.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36372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45223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194560"/>
            <a:ext cx="7571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con eventos del repo.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pull request, release, schedule o de forma manual.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1409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2294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971800"/>
            <a:ext cx="7571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flujos se definen en YAML.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dentro de .github/workflows/ del repositorio.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39182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4006718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749040"/>
            <a:ext cx="7571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para repos públicos y con minutos incluidos en privados.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proceso automatizado completo (un archivo .yml)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disparador (on: push, on: pull_request, 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de pasos que corren en un runner; paralelos o dependientes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acción o comando individual dentro de un 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reutilizable del Marketplace o propio (p. ej. actions/checkout)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máquina que ejecuta el job (hospedada por GitHub o self-hosted)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workflow (YAML)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120640" cy="3063240"/>
          </a:xfrm>
          <a:prstGeom prst="roundRect">
            <a:avLst>
              <a:gd name="adj" fmla="val 2388"/>
            </a:avLst>
          </a:prstGeom>
          <a:solidFill>
            <a:srgbClr val="151C4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build-test: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D5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D5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actions/setup-node@v4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node-version: '20'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ci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test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18150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954" y="1903598"/>
            <a:ext cx="225308" cy="22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73368" y="1554480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(on). </a:t>
            </a:r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dispara el flujo.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27752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954" y="2863718"/>
            <a:ext cx="225308" cy="2253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3368" y="2514600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en un runner. </a:t>
            </a:r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build-test en ubuntu-latest.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806440" y="373532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954" y="3823838"/>
            <a:ext cx="225308" cy="2253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73368" y="3474720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con actions o comandos. </a:t>
            </a:r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reutiliza; run: ejecuta.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en GitHub Actions y puente al lab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EN GITHUB 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manejan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496690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298448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Guardados cifrados en GitHub.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Secrets and variables → Actions. Nunca en el YAML.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06654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15505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956816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repositorio, de entorno (dev/stage/prod) y de organización.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272491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2813426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615184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y enmascarado.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con ${{ secrets.NOMBRE }} y GitHub enmascara su valor en los logs.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338328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471794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273552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GITHUB_TOKEN.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temporal por ejecución para actuar sobre el propio repo, sin secretos manuales.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2920" y="404164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4" y="4130162"/>
            <a:ext cx="225308" cy="2253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69848" y="3931920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con revisores.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job de deploy puede exigir aprobación humana (gate de producción).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OIDC (identidad federada, sin secretos de larga vida) al desplegar a la nube.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haremos? (150 min)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de la teoría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 en el laboratorio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(build + test)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instala, prueba y construye una app 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as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workflow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vive en .github/workflows/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y consumir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secreto; comprobar el enmascarado en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 y publicar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imagen a GHCR con GITHUB_TOKEN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con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de deploy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un environment con revisor requerido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de secretos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Scanning / Push Protection en el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645920"/>
            <a:ext cx="4572000" cy="45720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repaso y referencias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344168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borrar un secreto de un commit no basta?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83794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¿Diferencia entre entrega y despliegue continuos?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368296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5000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GITHUB_TOKEN?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86207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evita GitHub que un secreto aparezca en los logs?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docs.github.com/actions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en Actions — docs.github.com/actions/security-guides/using-secrets-in-github-actions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y despliegues — docs.github.com/actions/.../deployments-and-environments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Secrets Management Cheat Sheet — cheatsheetseries.owasp.org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  ·  manuelvargasrojas@cedoc.edu.co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— Gestión de Secretos y CI/CD con GitHub Actions</dc:title>
  <dc:subject>PptxGenJS Presentation</dc:subject>
  <dc:creator>Manuel Alejandro Vargas Rojas</dc:creator>
  <cp:lastModifiedBy>Manuel Alejandro Vargas Rojas</cp:lastModifiedBy>
  <cp:revision>1</cp:revision>
  <dcterms:created xsi:type="dcterms:W3CDTF">2026-07-07T22:57:27Z</dcterms:created>
  <dcterms:modified xsi:type="dcterms:W3CDTF">2026-07-07T22:57:27Z</dcterms:modified>
</cp:coreProperties>
</file>